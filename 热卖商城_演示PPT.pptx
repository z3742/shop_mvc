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93792" y="0"/>
            <a:ext cx="699516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914400" cy="9144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68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🛒</a:t>
            </a:r>
            <a:endParaRPr sz="3000" b="0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热卖商城</a:t>
            </a:r>
            <a:endParaRPr sz="36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606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8E8"/>
                </a:solidFill>
              </a:rPr>
              <a:t>Hot Sale Mall</a:t>
            </a:r>
            <a:endParaRPr sz="1600" b="0" i="0">
              <a:solidFill>
                <a:srgbClr val="B0C8E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C"/>
                </a:solidFill>
              </a:rPr>
              <a:t>基于 PHP MVC 架构的在线购物商城系统</a:t>
            </a:r>
            <a:endParaRPr sz="1100" b="0" i="0">
              <a:solidFill>
                <a:srgbClr val="8AA8C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8745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技术栈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0" y="21305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PHP 8.2 / MySQL 9.1 / Apache 2.4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27432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788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架构模式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0" y="30449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MVC (Model - View - Controller)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77840" y="36576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7033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功能覆盖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60720" y="39593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商品 · 购物车 · 订单 · 权限 · 搜索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77840" y="4572000"/>
            <a:ext cx="5943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46177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7ABF"/>
                </a:solidFill>
              </a:rPr>
              <a:t>版本信息</a:t>
            </a:r>
            <a:endParaRPr sz="1000" b="1" i="0">
              <a:solidFill>
                <a:srgbClr val="257AB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20" y="487375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</a:rPr>
              <a:t>v1.0 | 2026年6月</a:t>
            </a:r>
            <a:endParaRPr sz="1300" b="0" i="0">
              <a:solidFill>
                <a:srgbClr val="1E1E2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项目概述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Project Overview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33472" cy="7315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📋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C6E"/>
                </a:solidFill>
              </a:rPr>
              <a:t>项目定位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学习型全栈项目
聚焦 PHP MVC 架构实践
覆盖完整电商业务流程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27832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325880"/>
            <a:ext cx="2633472" cy="73152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🎯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27832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7ABF"/>
                </a:solidFill>
              </a:rPr>
              <a:t>解决问题</a:t>
            </a:r>
            <a:endParaRPr sz="14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4992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在线购物全流程
商品管理与展示
用户权限与安全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35624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325880"/>
            <a:ext cx="263347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⚙️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35624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核心特点</a:t>
            </a:r>
            <a:endParaRPr sz="1400" b="1" i="0">
              <a:solidFill>
                <a:srgbClr val="27AE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72784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原生 PHP 不依赖大框架
MVC 清晰分层解耦
PSR-4 命名空间规范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3416" y="1325880"/>
            <a:ext cx="2633472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325880"/>
            <a:ext cx="263347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43560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E1E2E"/>
                </a:solidFill>
              </a:rPr>
              <a:t>📦</a:t>
            </a:r>
            <a:endParaRPr sz="2400" b="0" i="0">
              <a:solidFill>
                <a:srgbClr val="1E1E2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43416" y="1874520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交付物</a:t>
            </a:r>
            <a:endParaRPr sz="1400" b="1" i="0">
              <a:solidFill>
                <a:srgbClr val="E67E2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80576" y="2286000"/>
            <a:ext cx="2359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可运行 Web 应用
完整数据库 SQL 脚本
README 部署文档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🏠 首页展示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轮播图 + 分类 + 热门商品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51760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🛍️ 商品系统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51760" y="5120640"/>
            <a:ext cx="21488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列表 / 详情 / 搜索 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8347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🛒 购物车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347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增删改查 + 数量调整 + 结算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31519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👤 用户中心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19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注册登录 / 订单 / 地址管理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646919" y="4572000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19" y="46634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C6E"/>
                </a:solidFill>
              </a:rPr>
              <a:t>🔐 权限管理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46919" y="51206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3"/>
                </a:solidFill>
              </a:rPr>
              <a:t>普通用户 + 管理员双角色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2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首页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Home Page — 轮播图 + 热门商品 + 分类导航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1_inde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115214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3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首页功能拆解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Home Page — Feature Breakdown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1_inde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685800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170432"/>
            <a:ext cx="44805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170432"/>
            <a:ext cx="448056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63040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1790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🔍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92440" y="14996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搜索栏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0" y="1810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支持商品 / 分类关键词搜索
Ajax 异步加载 + 模糊匹配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43800" y="2267712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2257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🔄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2440" y="2304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轮播图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2615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3张Banner自动轮播
支持手动左右切换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43800" y="3072384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12724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📂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244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分类导航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3419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8大商品分类
红色渐变色醒目展示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43800" y="3877056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🔥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92440" y="3913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热门推荐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2440" y="42245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6列网格 + 图片懒加载
Hover 上浮动画效果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43800" y="4681728"/>
            <a:ext cx="4206240" cy="71323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73659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🛒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92440" y="47183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悬浮购物车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92440" y="5029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Header实时展示数量
可快速预览/删除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543800" y="5486400"/>
            <a:ext cx="4206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55412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E2E"/>
                </a:solidFill>
              </a:rPr>
              <a:t>⬆</a:t>
            </a:r>
            <a:endParaRPr sz="1600" b="0" i="0">
              <a:solidFill>
                <a:srgbClr val="1E1E2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92440" y="55229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回到顶部</a:t>
            </a:r>
            <a:endParaRPr sz="1200" b="1" i="0">
              <a:solidFill>
                <a:srgbClr val="1A3C6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92440" y="5833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滚动 &gt;300px 自动出现
平滑滚动动画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4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商品列表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Goods List — 分类筛选 + 分页浏览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2_goods_li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115214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5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商品列表功能 + 商品详情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Goods List &amp; Detail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035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商品列表功能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分类筛选 — 按 cat_id 精准过滤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分页浏览 — LIMIT + OFFSET 分页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懒加载 — 图片 onerror 回退 default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热门标签 — is_hot 字段标识 HOT 角标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搜索联动 — 匹配分类 / 模糊商品名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响应式 — 6列→5列→4列自适应布局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97880" y="1325880"/>
            <a:ext cx="5989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325880"/>
            <a:ext cx="59893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商品详情页功能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18" name="Picture 17" descr="03_goods_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874519"/>
            <a:ext cx="598932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4800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大图 + 价格 + 库存展示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0" y="5148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数量加减 + 加入购物车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35040" y="54955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7天退换 / 正品保障标签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0" y="5843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购买跳转 + 数量校验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6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用户登录 &amp; 注册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Login &amp; Register — 验证码 + 表单验证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2356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 用户登录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9" name="Picture 8" descr="04_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74519"/>
            <a:ext cx="562356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POST /user/login 提交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5833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password_verify() 哈希验证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181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Gregwar/Captcha 图形验证码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7610" y="548614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Session 记录登录态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6235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56235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用户注册</a:t>
            </a:r>
            <a:endParaRPr sz="1300" b="1" i="0">
              <a:solidFill>
                <a:srgbClr val="FFFFFF"/>
              </a:solidFill>
            </a:endParaRPr>
          </a:p>
        </p:txBody>
      </p:sp>
      <p:pic>
        <p:nvPicPr>
          <p:cNvPr id="17" name="Picture 16" descr="05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19"/>
            <a:ext cx="5623560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486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POST /user/register 提交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5833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password_hash() 加密存储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6181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用户名唯一性校验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63890" y="548614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• 验证码 + 前后端双重校验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7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购物车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Shopping Cart — 商品管理 + 结算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6_c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1152144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8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购物车功能详解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Cart Features — 增删改查 + 结算流程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2004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加入购物车</a:t>
            </a:r>
            <a:endParaRPr sz="1300" b="1" i="0">
              <a:solidFill>
                <a:srgbClr val="27AE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cart/add
POST + user_id
+ goods_id + num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371600"/>
            <a:ext cx="320040" cy="192024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7ABF"/>
                </a:solidFill>
              </a:rPr>
              <a:t>数量调整</a:t>
            </a:r>
            <a:endParaRPr sz="1300" b="1" i="0">
              <a:solidFill>
                <a:srgbClr val="257AB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08960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cart/update
POST + cart_id
+ goods_num ±1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8347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79" y="1371600"/>
            <a:ext cx="32004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7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删除商品</a:t>
            </a:r>
            <a:endParaRPr sz="1300" b="1" i="0">
              <a:solidFill>
                <a:srgbClr val="C0392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4067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cart/delete
POST + cart_id
清空某条记录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78039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19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199" y="1371600"/>
            <a:ext cx="32004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清空购物车</a:t>
            </a:r>
            <a:endParaRPr sz="1300" b="1" i="0">
              <a:solidFill>
                <a:srgbClr val="E67E2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39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cart/clear
POST + user_id
删除全部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09759" y="2286000"/>
            <a:ext cx="109728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79" y="2176272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73"/>
                </a:solidFill>
              </a:rPr>
              <a:t>▶</a:t>
            </a:r>
            <a:endParaRPr sz="900" b="0" i="0">
              <a:solidFill>
                <a:srgbClr val="555F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646919" y="1371600"/>
            <a:ext cx="21488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19" y="1371600"/>
            <a:ext cx="320040" cy="1920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19" y="14630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结算订单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04119" y="19659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cart/checkout
POST + user_id
生成 order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3657600"/>
            <a:ext cx="115214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57600"/>
            <a:ext cx="1152144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购物车页面交互细节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4187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全选/反选 — Checkbox 联动总价计算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4590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数量调整 — 按钮 ±1，数量≥1 限制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4992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实时小计 — price × num 实时更新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删除确认 — 单条删除 / 批量删除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0" y="4187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合计计算 — 选中商品金额自动汇总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0" y="4590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结算跳转 — POST /cart/checkout → 订单确认页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27750" y="499237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悬浮车 — Header 购物车悬浮实时预览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9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页面展示 — 个人中心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User Center — 个人信息 + 订单管理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7_us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530352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97880" y="1170432"/>
            <a:ext cx="598932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1170432"/>
            <a:ext cx="598932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207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个人中心功能（所有用户共有）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个人信息 — 用户名/手机号/注册时间/账户类型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0" y="21671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订单管理 — 我的订单/待付款/待发货/待收货/已完成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0" y="25511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收货地址 — 地址的增删改查 CRUD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0" y="29352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优惠券 — 未使用/已使用/已过期优惠券查看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0" y="33192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• 账号设置 — 修改密码/绑定手机号/退出登录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97880" y="3840480"/>
            <a:ext cx="5989320" cy="2743200"/>
          </a:xfrm>
          <a:prstGeom prst="rect">
            <a:avLst/>
          </a:prstGeom>
          <a:solidFill>
            <a:srgbClr val="EAF3FB"/>
          </a:solidFill>
          <a:ln w="6350">
            <a:solidFill>
              <a:srgbClr val="25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💡  权限差异：普通用户 vs 管理员</a:t>
            </a:r>
            <a:endParaRPr sz="1300" b="1" i="0">
              <a:solidFill>
                <a:srgbClr val="1A3C6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35040" y="434340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普通用户 (type=0)：
  • 上架商品 — 提交商品审核申请
  • 我的商品 — 管理已上架商品
  • 浏览购买 — 完整的购物流程
管理员 (type=1)：
  • 商品审核 — 通过/拒绝待审商品
  • 用户管理 — 查看和管理注册用户
  • 商品删除 — 违规商品下架
  ⇢ 两张角色截图见下页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46634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F73"/>
                </a:solidFill>
              </a:rPr>
              <a:t>🔑  权限控制机制
• Session['user_type'] 区分角色
• 普通用户 → 显示「商品管理」菜单
• 管理员 → 显示「管理中心」菜单
• 后端 Controller 中二次鉴权
• 关键操作：if ($_SESSION['user_type'] != 1) 拦截</a:t>
            </a:r>
            <a:endParaRPr sz="1100" b="0" i="0">
              <a:solidFill>
                <a:srgbClr val="555F7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10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角色功能 — 普通用户 · 上架商品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Normal User — Add Goods for Review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8_user_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804672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170432"/>
            <a:ext cx="33832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170432"/>
            <a:ext cx="3383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2070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普通用户独有功能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0" y="1783080"/>
            <a:ext cx="3108960" cy="123444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8562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上架商品</a:t>
            </a:r>
            <a:endParaRPr sz="1200" b="1" i="0">
              <a:solidFill>
                <a:srgbClr val="27AE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填写名称/价格/库存/分类
上传商品图片
提交后进入审核队列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0" y="3200400"/>
            <a:ext cx="3108960" cy="12344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273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我的商品</a:t>
            </a:r>
            <a:endParaRPr sz="1200" b="1" i="0">
              <a:solidFill>
                <a:srgbClr val="27AE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0" y="3611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查看已上架的商品列表
管理在售商品信息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0" y="4617720"/>
            <a:ext cx="3108960" cy="123444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690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审核流程</a:t>
            </a:r>
            <a:endParaRPr sz="1200" b="1" i="0">
              <a:solidFill>
                <a:srgbClr val="27AE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0" y="5029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提交 → 等待审核 →
管理员通过后正式上架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49640" y="5943600"/>
            <a:ext cx="3383280" cy="64008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5989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📌 普通用户注册后 type=0
左侧菜单显示「商品管理」
管理员不能上架商品（自动拦截）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11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角色功能 — 管理员 · 商品审核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Admin — Goods Audit &amp; User Management</a:t>
            </a:r>
            <a:endParaRPr sz="1400" b="0" i="0">
              <a:solidFill>
                <a:srgbClr val="B0C8E8"/>
              </a:solidFill>
            </a:endParaRPr>
          </a:p>
        </p:txBody>
      </p:sp>
      <p:pic>
        <p:nvPicPr>
          <p:cNvPr id="6" name="Picture 5" descr="09_admin_aud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70432"/>
            <a:ext cx="8046720" cy="5440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170432"/>
            <a:ext cx="33832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9640" y="1170432"/>
            <a:ext cx="3383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2070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 管理员独有功能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6800" y="1783080"/>
            <a:ext cx="3108960" cy="96012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商品审核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查看所有 status=0 商品
GET pending_list 获取列表
通过 → status=1 上架
拒绝 → status=2 下架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0" y="2880360"/>
            <a:ext cx="31089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用户管理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78240" y="3200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查看全部注册用户
账号管理功能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0" y="3977639"/>
            <a:ext cx="3108960" cy="96012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023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删除商品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0" y="429767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POST /goods/delete
管理员删除违规商品
user_type != 1 拦截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0" y="5074920"/>
            <a:ext cx="31089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审核统计</a:t>
            </a:r>
            <a:endParaRPr sz="1200" b="1" i="0">
              <a:solidFill>
                <a:srgbClr val="C0392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0" y="53949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待审核/已通过/已拒绝
实时统计数据面板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5989320"/>
            <a:ext cx="3383280" cy="594360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60167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📌 管理员 type=1 用户
左侧菜单显示「管理中心」
所有敏感操作后端二次鉴权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12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4572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权限设计总结 — 普通用户 vs 管理员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Role-Based Access Control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235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普通用户 (type=0)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浏览首页 / 商品列表 / 详情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23317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搜索商品 / 收藏商品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27889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16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816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加入购物车 / 结算下单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注册 / 登录 / 修改密码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307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订单管理 / 收货地址 CRUD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040" y="41605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87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187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上架商品（需管理员审核）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" y="46177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45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我的商品管理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50749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02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❌</a:t>
            </a:r>
            <a:endParaRPr sz="1400" b="0" i="0">
              <a:solidFill>
                <a:srgbClr val="C0392B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商品审核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" y="55321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595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❌</a:t>
            </a:r>
            <a:endParaRPr sz="1400" b="0" i="0">
              <a:solidFill>
                <a:srgbClr val="C0392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55595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删除他人商品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0040" y="59893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167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</a:rPr>
              <a:t>❌</a:t>
            </a:r>
            <a:endParaRPr sz="1400" b="0" i="0">
              <a:solidFill>
                <a:srgbClr val="C0392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" y="6016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用户管理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62356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1325880"/>
            <a:ext cx="56235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🔧  管理员 (type=1)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63640" y="1874519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901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58000" y="1901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普通用户所有功能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63640" y="23317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359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58000" y="2359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商品审核（通过/拒绝）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263640" y="27889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816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58000" y="28163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删除任意商品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63640" y="32461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2735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0" y="32735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用户管理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63640" y="37033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7307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8000" y="3730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待审核统计面板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63640" y="4160520"/>
            <a:ext cx="5623560" cy="438912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187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</a:rPr>
              <a:t>✅</a:t>
            </a:r>
            <a:endParaRPr sz="1400" b="0" i="0">
              <a:solidFill>
                <a:srgbClr val="27AE6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8000" y="41879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轮播图/分类管理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63640" y="4617720"/>
            <a:ext cx="56235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645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67E22"/>
                </a:solidFill>
              </a:rPr>
              <a:t>❌</a:t>
            </a:r>
            <a:endParaRPr sz="1400" b="0" i="0">
              <a:solidFill>
                <a:srgbClr val="E67E22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58000" y="46451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</a:rPr>
              <a:t>不能上架商品</a:t>
            </a:r>
            <a:endParaRPr sz="1200" b="0" i="0">
              <a:solidFill>
                <a:srgbClr val="1E1E2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组合 71"/>
          <p:cNvGrpSpPr/>
          <p:nvPr/>
        </p:nvGrpSpPr>
        <p:grpSpPr>
          <a:xfrm>
            <a:off x="365760" y="5066030"/>
            <a:ext cx="11521440" cy="960120"/>
            <a:chOff x="504" y="8064"/>
            <a:chExt cx="18144" cy="1512"/>
          </a:xfrm>
        </p:grpSpPr>
        <p:grpSp>
          <p:nvGrpSpPr>
            <p:cNvPr id="71" name="组合 70"/>
            <p:cNvGrpSpPr/>
            <p:nvPr/>
          </p:nvGrpSpPr>
          <p:grpSpPr>
            <a:xfrm>
              <a:off x="504" y="8064"/>
              <a:ext cx="18144" cy="1512"/>
              <a:chOff x="504" y="8064"/>
              <a:chExt cx="18144" cy="1512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504" y="8064"/>
                <a:ext cx="18144" cy="1512"/>
              </a:xfrm>
              <a:prstGeom prst="rect">
                <a:avLst/>
              </a:prstGeom>
              <a:solidFill>
                <a:srgbClr val="EAF3FB"/>
              </a:solidFill>
              <a:ln w="6350">
                <a:solidFill>
                  <a:srgbClr val="257A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720" y="8136"/>
                <a:ext cx="17568" cy="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1A3C6E"/>
                    </a:solidFill>
                  </a:rPr>
                  <a:t>🔑  实现核心代码（user.php 视图 + usercontroller.php）</a:t>
                </a:r>
                <a:endParaRPr sz="1200" b="1" i="0">
                  <a:solidFill>
                    <a:srgbClr val="1A3C6E"/>
                  </a:solidFill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20" y="8640"/>
                <a:ext cx="17568" cy="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1A3C6E"/>
                    </a:solidFill>
                  </a:rPr>
                  <a:t>$isAdmin = isset($_SESSION['user_type']) &amp;&amp; $_SESSION['user_type'] == 1;</a:t>
                </a:r>
                <a:endParaRPr sz="900" b="0" i="0">
                  <a:solidFill>
                    <a:srgbClr val="1A3C6E"/>
                  </a:solidFill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720" y="8870"/>
                <a:ext cx="17568" cy="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555F73"/>
                    </a:solidFill>
                  </a:rPr>
                  <a:t>if (!$isAdmin):  ← 显示「商品管理」菜单（上架商品/我的商品）</a:t>
                </a:r>
                <a:endParaRPr sz="900" b="0" i="0">
                  <a:solidFill>
                    <a:srgbClr val="555F73"/>
                  </a:solidFill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720" y="9101"/>
                <a:ext cx="17568" cy="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0" i="0">
                    <a:solidFill>
                      <a:srgbClr val="1A3C6E"/>
                    </a:solidFill>
                  </a:rPr>
                  <a:t>if ($isAdmin):   ← 显示「管理中心」菜单（商品审核/用户管理）</a:t>
                </a:r>
                <a:endParaRPr sz="900" b="0" i="0">
                  <a:solidFill>
                    <a:srgbClr val="1A3C6E"/>
                  </a:solidFill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720" y="9331"/>
              <a:ext cx="17568" cy="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555F73"/>
                  </a:solidFill>
                </a:rPr>
                <a:t>// 后端鉴权: if ($_SESSION['user_type'] != 1) { jsonReturn(403, '权限不足'); }</a:t>
              </a:r>
              <a:endParaRPr sz="900" b="0" i="0">
                <a:solidFill>
                  <a:srgbClr val="555F73"/>
                </a:solidFill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13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技术栈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Technology Stack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64592" cy="65836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25880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服务器层</a:t>
            </a:r>
            <a:endParaRPr sz="1100" b="1" i="0">
              <a:solidFill>
                <a:srgbClr val="1A3C6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31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Apache 2.4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反向代理 · 虚拟主机 · URL Rewrite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2130552"/>
            <a:ext cx="164592" cy="658368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" y="2130552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219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7ABF"/>
                </a:solidFill>
              </a:rPr>
              <a:t>应用层</a:t>
            </a:r>
            <a:endParaRPr sz="1100" b="1" i="0">
              <a:solidFill>
                <a:srgbClr val="257AB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03120" y="22219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PHP 8.2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0" y="22219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核心业务逻辑 · MVC 分发 · PDO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2935224"/>
            <a:ext cx="164592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2935224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266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数据层</a:t>
            </a:r>
            <a:endParaRPr sz="1100" b="1" i="0">
              <a:solidFill>
                <a:srgbClr val="27AE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3120" y="30266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MySQL 9.1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0" y="30266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关系型存储 · InnoDB · 表约束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739896"/>
            <a:ext cx="164592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" y="3739896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31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前端层</a:t>
            </a:r>
            <a:endParaRPr sz="1100" b="1" i="0">
              <a:solidFill>
                <a:srgbClr val="E67E2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03120" y="38313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HTML5 / CSS3 / JavaScript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0" y="38313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响应式布局 · Grid/Flex · AJAX 交互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544568"/>
            <a:ext cx="164592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" y="4544568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36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安全组件</a:t>
            </a:r>
            <a:endParaRPr sz="1100" b="1" i="0">
              <a:solidFill>
                <a:srgbClr val="C0392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4636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Gregwar/Captcha 1.1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0" y="4636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图形验证码 · 防暴力破解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" y="5349240"/>
            <a:ext cx="164592" cy="658368"/>
          </a:xfrm>
          <a:prstGeom prst="rect">
            <a:avLst/>
          </a:prstGeom>
          <a:solidFill>
            <a:srgbClr val="6C3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4632" y="5349240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AA"/>
                </a:solidFill>
              </a:rPr>
              <a:t>依赖管理</a:t>
            </a:r>
            <a:endParaRPr sz="1100" b="1" i="0">
              <a:solidFill>
                <a:srgbClr val="6C35A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03120" y="5440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Composer + PSR-4</a:t>
            </a:r>
            <a:endParaRPr sz="1400" b="1" i="0">
              <a:solidFill>
                <a:srgbClr val="1A3C6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3"/>
                </a:solidFill>
              </a:rPr>
              <a:t>自动加载 · 命名空间 · 版本管理</a:t>
            </a:r>
            <a:endParaRPr sz="1200" b="0" i="0">
              <a:solidFill>
                <a:srgbClr val="555F73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14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MVC 架构设计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Model - View - Controller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1554480" cy="13716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浏览器请求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Browser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20240" y="2651760"/>
            <a:ext cx="155448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public/
index.php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统一入口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0" y="2651760"/>
            <a:ext cx="1554480" cy="1371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7066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framework/
app.php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路由分发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0" y="1188720"/>
            <a:ext cx="155448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Controller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接收请求
调用模型
返回视图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55279" y="1188720"/>
            <a:ext cx="155448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55279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数据库操作
业务逻辑
数据校验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241280" y="1188720"/>
            <a:ext cx="1554480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24358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41280" y="18745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持久化存储
表结构管理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55279" y="4023360"/>
            <a:ext cx="155448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078224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View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47091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HTML模板
CSS/JS
数据渲染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47088" y="3337560"/>
            <a:ext cx="5486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564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93008" y="3337560"/>
            <a:ext cx="14630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30368" y="3337560"/>
            <a:ext cx="2377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32278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59168" y="1874519"/>
            <a:ext cx="877823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7" y="176479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28048" y="1874519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176479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63640" y="2560320"/>
            <a:ext cx="38100" cy="146304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39319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80644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3"/>
                </a:solidFill>
              </a:rPr>
              <a:t>渲染</a:t>
            </a:r>
            <a:endParaRPr sz="1000" b="0" i="1">
              <a:solidFill>
                <a:srgbClr val="555F73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4709160"/>
            <a:ext cx="10652760" cy="381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57200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◀</a:t>
            </a:r>
            <a:endParaRPr sz="1000" b="0" i="0">
              <a:solidFill>
                <a:srgbClr val="8899AA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F73"/>
                </a:solidFill>
              </a:rPr>
              <a:t>HTTP Response → 浏览器渲染</a:t>
            </a:r>
            <a:endParaRPr sz="1000" b="0" i="1">
              <a:solidFill>
                <a:srgbClr val="555F7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15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数据库设计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Database — 6 Core Tables, InnoDB Engine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2918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user_id PK</a:t>
            </a:r>
            <a:r>
              <a:rPr lang="zh-CN" sz="1100" b="1" i="0">
                <a:solidFill>
                  <a:srgbClr val="1E1E2E"/>
                </a:solidFill>
              </a:rPr>
              <a:t>（</a:t>
            </a:r>
            <a:r>
              <a:rPr lang="zh-CN" sz="1100" b="1" i="0">
                <a:solidFill>
                  <a:srgbClr val="1E1E2E"/>
                </a:solidFill>
              </a:rPr>
              <a:t>主键）</a:t>
            </a:r>
            <a:endParaRPr lang="zh-CN" sz="1100" b="1" i="0">
              <a:solidFill>
                <a:srgbClr val="1E1E2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username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password (hash)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phone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type (0用户/1管理)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33672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325880"/>
            <a:ext cx="3657600" cy="4572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goods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16552" y="185623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goods_id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16552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goods_name / price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stock 库存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16552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status (0待审/1上架/2下架)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16552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cat_id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47304" y="132588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7304" y="132588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1380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cart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0184" y="185623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cart_id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0184" y="2221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30184" y="2587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30184" y="2953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goods_num 数量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023360"/>
            <a:ext cx="3657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order_id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order_sn 订单号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user_id FK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total_amount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016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status 状态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33672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33672" y="402336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category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16552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cat_id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16552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cat_name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16552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parent_id 父分类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16552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sort_order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147304" y="40233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47304" y="4023360"/>
            <a:ext cx="3657600" cy="457200"/>
          </a:xfrm>
          <a:prstGeom prst="rect">
            <a:avLst/>
          </a:prstGeom>
          <a:solidFill>
            <a:srgbClr val="6C3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7032" y="4078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banner 表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30184" y="4553712"/>
            <a:ext cx="32918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• banner_id PK</a:t>
            </a:r>
            <a:r>
              <a:rPr lang="zh-CN" sz="1100" b="1">
                <a:solidFill>
                  <a:srgbClr val="1E1E2E"/>
                </a:solidFill>
                <a:sym typeface="+mn-ea"/>
              </a:rPr>
              <a:t>（主键）</a:t>
            </a:r>
            <a:endParaRPr lang="zh-CN" sz="1100" b="1" i="0">
              <a:solidFill>
                <a:srgbClr val="1E1E2E"/>
              </a:solidFill>
            </a:endParaRPr>
          </a:p>
          <a:p>
            <a:pPr algn="l"/>
            <a:endParaRPr sz="1100" b="1" i="0">
              <a:solidFill>
                <a:srgbClr val="1E1E2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30184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banner_title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30184" y="52852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banner_img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30184" y="56509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banner_url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30184" y="60167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2E"/>
                </a:solidFill>
              </a:rPr>
              <a:t>• sort_order</a:t>
            </a:r>
            <a:endParaRPr sz="1100" b="0" i="0">
              <a:solidFill>
                <a:srgbClr val="1E1E2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16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核心流程 — 用户登录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Login Flow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1600200" cy="13716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客户端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用户填写
用户名+密码+验证码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65960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1600200" cy="13716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Controller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POST /user/login
接收参数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31920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59" y="1645920"/>
            <a:ext cx="1600200" cy="1371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51959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SELECT * FROM user
WHERE username=?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97879" y="2313432"/>
            <a:ext cx="310896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1" y="22219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19" y="1645920"/>
            <a:ext cx="1600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19" y="1700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验证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19" y="21488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password_verify()
哈希比对</a:t>
            </a:r>
            <a:endParaRPr sz="1100" b="0" i="0">
              <a:solidFill>
                <a:srgbClr val="DDEE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0" y="1554480"/>
            <a:ext cx="1828800" cy="1554480"/>
          </a:xfrm>
          <a:prstGeom prst="rect">
            <a:avLst/>
          </a:prstGeom>
          <a:solidFill>
            <a:srgbClr val="1A3C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验证
结果?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601200" y="1143000"/>
            <a:ext cx="13716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成功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0" y="1554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ECC"/>
                </a:solidFill>
              </a:rPr>
              <a:t>写Session
跳转首页</a:t>
            </a:r>
            <a:endParaRPr sz="1000" b="0" i="0">
              <a:solidFill>
                <a:srgbClr val="CCEECC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436608" y="1645920"/>
            <a:ext cx="14630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15361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89520" y="3291840"/>
            <a:ext cx="1371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337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✗ 失败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89520" y="3703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CCC"/>
                </a:solidFill>
              </a:rPr>
              <a:t>返回错误
提示信息</a:t>
            </a:r>
            <a:endParaRPr sz="1000" b="0" i="0">
              <a:solidFill>
                <a:srgbClr val="FFCCCC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485632" y="3108960"/>
            <a:ext cx="38100" cy="201168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2461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失败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0040" y="3657600"/>
            <a:ext cx="448183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657600"/>
            <a:ext cx="449326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03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 关键代码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4206240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// 1. 密码验证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4443983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$user = $db-&gt;find("SELECT * FROM user WHERE username = ?", [$username]);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4681727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if ($user &amp;&amp; password_verify($password, $user['password'])) {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491947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    // 2. 验证码校验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515721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$builder = new \Gregwar\Captcha\CaptchaBuilder($user['captcha']);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5394959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if ($builder-&gt;testPhrase($captcha)) {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" y="563270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    $_SESSION['user_id'] = $user['user_id'];   // 3. 写入Session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5870448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    return json(["code" =&gt; 200, "msg" =&gt; "登录成功"]);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610819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    }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634593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}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601200" y="3657600"/>
            <a:ext cx="2286000" cy="2926080"/>
          </a:xfrm>
          <a:prstGeom prst="rect">
            <a:avLst/>
          </a:prstGeom>
          <a:solidFill>
            <a:srgbClr val="EAF3FB"/>
          </a:solidFill>
          <a:ln w="6350">
            <a:solidFill>
              <a:srgbClr val="257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384048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C6E"/>
                </a:solidFill>
              </a:rPr>
              <a:t>💡 安全要点
• password_hash
  + password_verify
  密码哈希存储
• PDO 预处理
  防 SQL 注入
• 验证码防护
  防暴力破解</a:t>
            </a:r>
            <a:endParaRPr sz="1000" b="0" i="0">
              <a:solidFill>
                <a:srgbClr val="1A3C6E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17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核心流程 — 商品审核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Goods Audit Flow — 普通用户提交 → 管理员审核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874519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745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普通用户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11521440" cy="1874519"/>
          </a:xfrm>
          <a:prstGeom prst="rect">
            <a:avLst/>
          </a:prstGeom>
          <a:solidFill>
            <a:srgbClr val="F4F7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388620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数据库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5212080"/>
            <a:ext cx="11521440" cy="1874519"/>
          </a:xfrm>
          <a:prstGeom prst="rect">
            <a:avLst/>
          </a:prstGeom>
          <a:solidFill>
            <a:srgbClr val="FFF3E5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58978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管理员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132588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提交上架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POST /user/add_goods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931920" y="1325880"/>
            <a:ext cx="2011680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写入DB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9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INSERT status=0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75120" y="1325880"/>
            <a:ext cx="2011680" cy="82296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3624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等待审核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返回提示信息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18688" y="173736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16276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61888" y="173736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62763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31920" y="3337560"/>
            <a:ext cx="2011680" cy="82296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3741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待审数据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WHERE status=0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675120" y="3337560"/>
            <a:ext cx="2011680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3741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返回列表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商品名/价格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61888" y="3749039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639311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88720" y="534924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查看列表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87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pending_list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31920" y="534924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审核通过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319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UPDATE status=1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675120" y="5349240"/>
            <a:ext cx="201168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审核拒绝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UPDATE status=2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418320" y="5349240"/>
            <a:ext cx="2011680" cy="82296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53858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完成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1832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</a:rPr>
              <a:t>返回msg</a:t>
            </a:r>
            <a:endParaRPr sz="1000" b="0" i="0">
              <a:solidFill>
                <a:srgbClr val="DDEEFF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186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618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705088" y="5760720"/>
            <a:ext cx="694944" cy="381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3728" y="565099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919472" y="1188720"/>
            <a:ext cx="38100" cy="96012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1133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62672" y="1188720"/>
            <a:ext cx="38100" cy="2971800"/>
          </a:xfrm>
          <a:prstGeom prst="rect">
            <a:avLst/>
          </a:prstGeom>
          <a:solidFill>
            <a:srgbClr val="55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2944" y="1133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▼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18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接口列表</a:t>
            </a:r>
            <a:endParaRPr sz="26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94944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RESTful API Endpoints</a:t>
            </a:r>
            <a:endParaRPr sz="1400" b="0" i="0">
              <a:solidFill>
                <a:srgbClr val="B0C8E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83464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用户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/user/login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登录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/user/register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8408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注册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/captcha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8408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验证码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4408" y="1325880"/>
            <a:ext cx="2834640" cy="4114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🛍️ 商品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64408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1828800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22776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/goods/list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22776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商品列表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64408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5848" y="2633472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22776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/goods/detail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22776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商品详情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64408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5848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8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22776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/goods/hot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922776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热门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64408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5848" y="4242816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5848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922776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/goods/search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22776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搜索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08776" y="1325880"/>
            <a:ext cx="28346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🛒 购物车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08776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0216" y="1828800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216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67144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/cart/index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67144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获取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208776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0216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67144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/cart/add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67144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添加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08776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00216" y="3438144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0216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67144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/cart/update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67144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更新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208776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00216" y="4242816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0216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67144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/cart/delete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67144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删除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208776" y="4956048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0216" y="5047488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0216" y="50292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867144" y="49926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/cart/clear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67144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清空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208776" y="5760720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0216" y="585216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0216" y="583387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867144" y="57972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/cart/checkout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67144" y="6108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结算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153144" y="1325880"/>
            <a:ext cx="28346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44584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管理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153144" y="1737360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44584" y="1828800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44584" y="181051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11512" y="17739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/user/add_goods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11512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上架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9153144" y="2542032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44584" y="2633472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44584" y="2615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811512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/user/check_goods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811512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审核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153144" y="3346704"/>
            <a:ext cx="283464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44584" y="3438144"/>
            <a:ext cx="502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44584" y="34198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811512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/user/pending_list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811512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待审列表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153144" y="4151376"/>
            <a:ext cx="2834640" cy="749808"/>
          </a:xfrm>
          <a:prstGeom prst="rect">
            <a:avLst/>
          </a:prstGeom>
          <a:solidFill>
            <a:srgbClr val="EAF3FB"/>
          </a:solidFill>
          <a:ln w="3810">
            <a:solidFill>
              <a:srgbClr val="CB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44584" y="4242816"/>
            <a:ext cx="502920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44584" y="4224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  <a:endParaRPr sz="900" b="1" i="0">
              <a:solidFill>
                <a:srgbClr val="FFFFFF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811512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/goods/delete</a:t>
            </a:r>
            <a:endParaRPr sz="1000" b="1" i="0">
              <a:solidFill>
                <a:srgbClr val="1A3C6E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811512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F73"/>
                </a:solidFill>
              </a:rPr>
              <a:t>删除(管理员)</a:t>
            </a:r>
            <a:endParaRPr sz="1000" b="0" i="0">
              <a:solidFill>
                <a:srgbClr val="555F73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19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5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955279" cy="5120640"/>
          </a:xfrm>
          <a:prstGeom prst="rect">
            <a:avLst/>
          </a:prstGeom>
          <a:solidFill>
            <a:srgbClr val="142B52"/>
          </a:solidFill>
          <a:ln w="12700">
            <a:solidFill>
              <a:srgbClr val="35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项目总结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C"/>
                </a:solidFill>
              </a:rPr>
              <a:t>Hot Sale Mall · v1.0 · 2026年6月</a:t>
            </a:r>
            <a:endParaRPr sz="1300" b="0" i="0">
              <a:solidFill>
                <a:srgbClr val="8AA8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基于 PHP 8.2 + MySQL 9.1 + Apache 2.4 构建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自研轻量 MVC 框架，严格分层解耦，无重型依赖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覆盖首页、商品、购物车、订单、权限 5 大模块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完善安全机制：哈希密码 / PDO 防注入 / XSS 过滤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双角色权限：普通用户上架 → 管理员审核 + 用户管理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清晰 RESTful API + 完整注释，易于维护和扩展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前端响应式设计，兼容桌面端与移动端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0" y="13716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感谢观看</a:t>
            </a:r>
            <a:endParaRPr sz="24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968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Thank You</a:t>
            </a:r>
            <a:endParaRPr sz="1600" b="0" i="0">
              <a:solidFill>
                <a:srgbClr val="CCDD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680" y="32004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🛒
热卖商城
Hot Sale Mall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F73"/>
                </a:solidFill>
              </a:rPr>
              <a:t>20 / 20</a:t>
            </a:r>
            <a:endParaRPr sz="1000" b="0" i="0">
              <a:solidFill>
                <a:srgbClr val="555F7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5709</Words>
  <Application>WPS 演示</Application>
  <PresentationFormat>On-screen Show (4:3)</PresentationFormat>
  <Paragraphs>849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微信用户</cp:lastModifiedBy>
  <cp:revision>5</cp:revision>
  <dcterms:created xsi:type="dcterms:W3CDTF">2013-01-27T09:14:00Z</dcterms:created>
  <dcterms:modified xsi:type="dcterms:W3CDTF">2026-06-28T09:07:23Z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437C77D72A2541B891791D54FD28C503_12</vt:lpwstr>
  </property>
  <property fmtid="{D5CDD505-2E9C-101B-9397-08002B2CF9AE}" pid="3" name="KSOProductBuildVer">
    <vt:lpwstr>2052-12.1.0.26895</vt:lpwstr>
  </property>
</Properties>
</file>