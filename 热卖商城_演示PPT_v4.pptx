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sldIdLst>
    <p:sldId id="256" r:id="rId3"/>
    <p:sldId id="257" r:id="rId4"/>
    <p:sldId id="270" r:id="rId5"/>
    <p:sldId id="274" r:id="rId6"/>
    <p:sldId id="271" r:id="rId7"/>
    <p:sldId id="259" r:id="rId8"/>
    <p:sldId id="281" r:id="rId9"/>
    <p:sldId id="280" r:id="rId10"/>
    <p:sldId id="262" r:id="rId11"/>
    <p:sldId id="263" r:id="rId12"/>
    <p:sldId id="264" r:id="rId13"/>
    <p:sldId id="265" r:id="rId14"/>
    <p:sldId id="266" r:id="rId15"/>
    <p:sldId id="267" r:id="rId16"/>
    <p:sldId id="273" r:id="rId17"/>
    <p:sldId id="272" r:id="rId18"/>
    <p:sldId id="275" r:id="rId19"/>
  </p:sldIdLst>
  <p:sldSz cx="1218882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217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 showGuides="1">
      <p:cViewPr varScale="1">
        <p:scale>
          <a:sx n="124" d="100"/>
          <a:sy n="124" d="100"/>
        </p:scale>
        <p:origin x="-1512" y="-112"/>
      </p:cViewPr>
      <p:guideLst>
        <p:guide orient="horz" pos="2217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7.xml"/><Relationship Id="rId8" Type="http://schemas.openxmlformats.org/officeDocument/2006/relationships/slide" Target="slides/slide6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2" Type="http://schemas.openxmlformats.org/officeDocument/2006/relationships/tableStyles" Target="tableStyles.xml"/><Relationship Id="rId21" Type="http://schemas.openxmlformats.org/officeDocument/2006/relationships/viewProps" Target="viewProps.xml"/><Relationship Id="rId20" Type="http://schemas.openxmlformats.org/officeDocument/2006/relationships/presProps" Target="presProps.xml"/><Relationship Id="rId2" Type="http://schemas.openxmlformats.org/officeDocument/2006/relationships/theme" Target="theme/theme1.xml"/><Relationship Id="rId19" Type="http://schemas.openxmlformats.org/officeDocument/2006/relationships/slide" Target="slides/slide17.xml"/><Relationship Id="rId18" Type="http://schemas.openxmlformats.org/officeDocument/2006/relationships/slide" Target="slides/slide16.xml"/><Relationship Id="rId17" Type="http://schemas.openxmlformats.org/officeDocument/2006/relationships/slide" Target="slides/slide15.xml"/><Relationship Id="rId16" Type="http://schemas.openxmlformats.org/officeDocument/2006/relationships/slide" Target="slides/slide14.xml"/><Relationship Id="rId15" Type="http://schemas.openxmlformats.org/officeDocument/2006/relationships/slide" Target="slides/slide13.xml"/><Relationship Id="rId14" Type="http://schemas.openxmlformats.org/officeDocument/2006/relationships/slide" Target="slides/slide12.xml"/><Relationship Id="rId13" Type="http://schemas.openxmlformats.org/officeDocument/2006/relationships/slide" Target="slides/slide11.xml"/><Relationship Id="rId12" Type="http://schemas.openxmlformats.org/officeDocument/2006/relationships/slide" Target="slides/slide10.xml"/><Relationship Id="rId11" Type="http://schemas.openxmlformats.org/officeDocument/2006/relationships/slide" Target="slides/slide9.xml"/><Relationship Id="rId10" Type="http://schemas.openxmlformats.org/officeDocument/2006/relationships/slide" Target="slides/slide8.xml"/><Relationship Id="rId1" Type="http://schemas.openxmlformats.org/officeDocument/2006/relationships/slideMaster" Target="slideMasters/slideMaster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 panose="020B0604020202020204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 panose="020B0604020202020204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 panose="020B0604020202020204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 panose="020B0604020202020204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1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2.png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1" Type="http://schemas.openxmlformats.org/officeDocument/2006/relationships/image" Target="../media/image3.pn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5.png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6.png"/></Relationships>
</file>

<file path=ppt/slides/_rels/slide13.xml.rels><?xml version="1.0" encoding="UTF-8" standalone="yes"?>
<Relationships xmlns="http://schemas.openxmlformats.org/package/2006/relationships"><Relationship Id="rId9" Type="http://schemas.openxmlformats.org/officeDocument/2006/relationships/tags" Target="../tags/tag8.xml"/><Relationship Id="rId8" Type="http://schemas.openxmlformats.org/officeDocument/2006/relationships/tags" Target="../tags/tag7.xml"/><Relationship Id="rId7" Type="http://schemas.openxmlformats.org/officeDocument/2006/relationships/tags" Target="../tags/tag6.xml"/><Relationship Id="rId6" Type="http://schemas.openxmlformats.org/officeDocument/2006/relationships/tags" Target="../tags/tag5.xml"/><Relationship Id="rId5" Type="http://schemas.openxmlformats.org/officeDocument/2006/relationships/tags" Target="../tags/tag4.xml"/><Relationship Id="rId4" Type="http://schemas.openxmlformats.org/officeDocument/2006/relationships/tags" Target="../tags/tag3.xml"/><Relationship Id="rId3" Type="http://schemas.openxmlformats.org/officeDocument/2006/relationships/tags" Target="../tags/tag2.xml"/><Relationship Id="rId2" Type="http://schemas.openxmlformats.org/officeDocument/2006/relationships/tags" Target="../tags/tag1.xml"/><Relationship Id="rId11" Type="http://schemas.openxmlformats.org/officeDocument/2006/relationships/slideLayout" Target="../slideLayouts/slideLayout7.xml"/><Relationship Id="rId10" Type="http://schemas.openxmlformats.org/officeDocument/2006/relationships/tags" Target="../tags/tag9.xml"/><Relationship Id="rId1" Type="http://schemas.openxmlformats.org/officeDocument/2006/relationships/image" Target="../media/image7.png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8.png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5120640" cy="6858000"/>
          </a:xfrm>
          <a:prstGeom prst="rect">
            <a:avLst/>
          </a:prstGeom>
          <a:solidFill>
            <a:srgbClr val="1A3C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120640" y="0"/>
            <a:ext cx="73152" cy="6858000"/>
          </a:xfrm>
          <a:prstGeom prst="rect">
            <a:avLst/>
          </a:prstGeom>
          <a:solidFill>
            <a:srgbClr val="257A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5193792" y="0"/>
            <a:ext cx="6995160" cy="6858000"/>
          </a:xfrm>
          <a:prstGeom prst="rect">
            <a:avLst/>
          </a:prstGeom>
          <a:solidFill>
            <a:srgbClr val="F4F7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320040" y="914400"/>
            <a:ext cx="914400" cy="914400"/>
          </a:xfrm>
          <a:prstGeom prst="rect">
            <a:avLst/>
          </a:prstGeom>
          <a:solidFill>
            <a:srgbClr val="257A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28600" y="868680"/>
            <a:ext cx="7315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000" b="0" i="0">
                <a:solidFill>
                  <a:srgbClr val="FFFFFF"/>
                </a:solidFill>
              </a:rPr>
              <a:t>🛒</a:t>
            </a:r>
            <a:endParaRPr sz="3000" b="0" i="0">
              <a:solidFill>
                <a:srgbClr val="FFFFFF"/>
              </a:solidFill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320040" y="2011680"/>
            <a:ext cx="4572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600" b="1" i="0">
                <a:solidFill>
                  <a:srgbClr val="FFFFFF"/>
                </a:solidFill>
              </a:rPr>
              <a:t>热卖商城</a:t>
            </a:r>
            <a:endParaRPr sz="3600" b="1" i="0">
              <a:solidFill>
                <a:srgbClr val="FFFFFF"/>
              </a:solidFill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320040" y="2606040"/>
            <a:ext cx="4572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 i="0">
                <a:solidFill>
                  <a:srgbClr val="B0C8E8"/>
                </a:solidFill>
              </a:rPr>
              <a:t>Hot Sale Mall</a:t>
            </a:r>
            <a:endParaRPr sz="1600" b="0" i="0">
              <a:solidFill>
                <a:srgbClr val="B0C8E8"/>
              </a:solidFill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320040" y="310896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8AA8CC"/>
                </a:solidFill>
              </a:rPr>
              <a:t>基于 PHP MVC 架构的在线购物商城系统</a:t>
            </a:r>
            <a:endParaRPr sz="1100" b="0" i="0">
              <a:solidFill>
                <a:srgbClr val="8AA8CC"/>
              </a:solidFill>
            </a:endParaRPr>
          </a:p>
        </p:txBody>
      </p:sp>
      <p:sp>
        <p:nvSpPr>
          <p:cNvPr id="10" name="Rectangle 9"/>
          <p:cNvSpPr/>
          <p:nvPr/>
        </p:nvSpPr>
        <p:spPr>
          <a:xfrm>
            <a:off x="5577840" y="1828800"/>
            <a:ext cx="5943600" cy="713232"/>
          </a:xfrm>
          <a:prstGeom prst="rect">
            <a:avLst/>
          </a:prstGeom>
          <a:solidFill>
            <a:srgbClr val="FFFFFF"/>
          </a:solidFill>
          <a:ln w="6350">
            <a:solidFill>
              <a:srgbClr val="CBD9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760720" y="1874520"/>
            <a:ext cx="56692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257ABF"/>
                </a:solidFill>
              </a:rPr>
              <a:t>技术栈</a:t>
            </a:r>
            <a:endParaRPr sz="1000" b="1" i="0">
              <a:solidFill>
                <a:srgbClr val="257ABF"/>
              </a:solidFill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5760720" y="2130552"/>
            <a:ext cx="566928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E1E2E"/>
                </a:solidFill>
              </a:rPr>
              <a:t>PHP 8.2 / MySQL 9.1 / Apache 2.4</a:t>
            </a:r>
            <a:endParaRPr sz="1300" b="0" i="0">
              <a:solidFill>
                <a:srgbClr val="1E1E2E"/>
              </a:solidFill>
            </a:endParaRPr>
          </a:p>
        </p:txBody>
      </p:sp>
      <p:sp>
        <p:nvSpPr>
          <p:cNvPr id="13" name="Rectangle 12"/>
          <p:cNvSpPr/>
          <p:nvPr/>
        </p:nvSpPr>
        <p:spPr>
          <a:xfrm>
            <a:off x="5577840" y="2743200"/>
            <a:ext cx="5943600" cy="713232"/>
          </a:xfrm>
          <a:prstGeom prst="rect">
            <a:avLst/>
          </a:prstGeom>
          <a:solidFill>
            <a:srgbClr val="FFFFFF"/>
          </a:solidFill>
          <a:ln w="6350">
            <a:solidFill>
              <a:srgbClr val="CBD9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760720" y="2788920"/>
            <a:ext cx="56692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257ABF"/>
                </a:solidFill>
              </a:rPr>
              <a:t>架构模式</a:t>
            </a:r>
            <a:endParaRPr sz="1000" b="1" i="0">
              <a:solidFill>
                <a:srgbClr val="257ABF"/>
              </a:solidFill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5760720" y="3044952"/>
            <a:ext cx="566928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E1E2E"/>
                </a:solidFill>
              </a:rPr>
              <a:t>MVC (Model - View - Controller)</a:t>
            </a:r>
            <a:endParaRPr sz="1300" b="0" i="0">
              <a:solidFill>
                <a:srgbClr val="1E1E2E"/>
              </a:solidFill>
            </a:endParaRPr>
          </a:p>
        </p:txBody>
      </p:sp>
      <p:sp>
        <p:nvSpPr>
          <p:cNvPr id="16" name="Rectangle 15"/>
          <p:cNvSpPr/>
          <p:nvPr/>
        </p:nvSpPr>
        <p:spPr>
          <a:xfrm>
            <a:off x="5577840" y="3657600"/>
            <a:ext cx="5943600" cy="713232"/>
          </a:xfrm>
          <a:prstGeom prst="rect">
            <a:avLst/>
          </a:prstGeom>
          <a:solidFill>
            <a:srgbClr val="FFFFFF"/>
          </a:solidFill>
          <a:ln w="6350">
            <a:solidFill>
              <a:srgbClr val="CBD9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760720" y="3703320"/>
            <a:ext cx="56692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257ABF"/>
                </a:solidFill>
              </a:rPr>
              <a:t>功能覆盖</a:t>
            </a:r>
            <a:endParaRPr sz="1000" b="1" i="0">
              <a:solidFill>
                <a:srgbClr val="257ABF"/>
              </a:solidFill>
            </a:endParaRPr>
          </a:p>
        </p:txBody>
      </p:sp>
      <p:sp>
        <p:nvSpPr>
          <p:cNvPr id="18" name="TextBox 17"/>
          <p:cNvSpPr txBox="1"/>
          <p:nvPr/>
        </p:nvSpPr>
        <p:spPr>
          <a:xfrm>
            <a:off x="5760720" y="3959352"/>
            <a:ext cx="566928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E1E2E"/>
                </a:solidFill>
              </a:rPr>
              <a:t>商品 · 购物车 · 订单 · 权限 · 搜索</a:t>
            </a:r>
            <a:endParaRPr sz="1300" b="0" i="0">
              <a:solidFill>
                <a:srgbClr val="1E1E2E"/>
              </a:solidFill>
            </a:endParaRPr>
          </a:p>
        </p:txBody>
      </p:sp>
      <p:sp>
        <p:nvSpPr>
          <p:cNvPr id="19" name="Rectangle 18"/>
          <p:cNvSpPr/>
          <p:nvPr/>
        </p:nvSpPr>
        <p:spPr>
          <a:xfrm>
            <a:off x="5577840" y="4572000"/>
            <a:ext cx="5943600" cy="713232"/>
          </a:xfrm>
          <a:prstGeom prst="rect">
            <a:avLst/>
          </a:prstGeom>
          <a:solidFill>
            <a:srgbClr val="FFFFFF"/>
          </a:solidFill>
          <a:ln w="6350">
            <a:solidFill>
              <a:srgbClr val="CBD9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760720" y="4617720"/>
            <a:ext cx="56692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257ABF"/>
                </a:solidFill>
              </a:rPr>
              <a:t>版本信息</a:t>
            </a:r>
            <a:endParaRPr sz="1000" b="1" i="0">
              <a:solidFill>
                <a:srgbClr val="257ABF"/>
              </a:solidFill>
            </a:endParaRPr>
          </a:p>
        </p:txBody>
      </p:sp>
      <p:sp>
        <p:nvSpPr>
          <p:cNvPr id="21" name="TextBox 20"/>
          <p:cNvSpPr txBox="1"/>
          <p:nvPr/>
        </p:nvSpPr>
        <p:spPr>
          <a:xfrm>
            <a:off x="5760720" y="4873752"/>
            <a:ext cx="566928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E1E2E"/>
                </a:solidFill>
              </a:rPr>
              <a:t>v1.0 | 2026年6月</a:t>
            </a:r>
            <a:endParaRPr sz="1300" b="0" i="0">
              <a:solidFill>
                <a:srgbClr val="1E1E2E"/>
              </a:solidFill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4F7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51560"/>
          </a:xfrm>
          <a:prstGeom prst="rect">
            <a:avLst/>
          </a:prstGeom>
          <a:solidFill>
            <a:srgbClr val="1A3C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11480" y="164592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</a:rPr>
              <a:t>项目概述</a:t>
            </a:r>
            <a:endParaRPr sz="2600" b="1" i="0">
              <a:solidFill>
                <a:srgbClr val="FFFFFF"/>
              </a:solidFill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411480" y="694944"/>
            <a:ext cx="91440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B0C8E8"/>
                </a:solidFill>
              </a:rPr>
              <a:t>Project Overview</a:t>
            </a:r>
            <a:endParaRPr sz="1400" b="0" i="0">
              <a:solidFill>
                <a:srgbClr val="B0C8E8"/>
              </a:solidFill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320040" y="1325880"/>
            <a:ext cx="2633472" cy="2926080"/>
          </a:xfrm>
          <a:prstGeom prst="rect">
            <a:avLst/>
          </a:prstGeom>
          <a:solidFill>
            <a:srgbClr val="FFFFFF"/>
          </a:solidFill>
          <a:ln w="10160">
            <a:solidFill>
              <a:srgbClr val="CBD9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320040" y="1325880"/>
            <a:ext cx="2633472" cy="73152"/>
          </a:xfrm>
          <a:prstGeom prst="rect">
            <a:avLst/>
          </a:prstGeom>
          <a:solidFill>
            <a:srgbClr val="1A3C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20040" y="1435608"/>
            <a:ext cx="263347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0" i="0">
                <a:solidFill>
                  <a:srgbClr val="1E1E2E"/>
                </a:solidFill>
              </a:rPr>
              <a:t>📋</a:t>
            </a:r>
            <a:endParaRPr sz="2400" b="0" i="0">
              <a:solidFill>
                <a:srgbClr val="1E1E2E"/>
              </a:solidFill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320040" y="1874520"/>
            <a:ext cx="263347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1A3C6E"/>
                </a:solidFill>
              </a:rPr>
              <a:t>项目定位</a:t>
            </a:r>
            <a:endParaRPr sz="1400" b="1" i="0">
              <a:solidFill>
                <a:srgbClr val="1A3C6E"/>
              </a:solidFill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457200" y="2286000"/>
            <a:ext cx="2359152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555F73"/>
                </a:solidFill>
              </a:rPr>
              <a:t>学习型全栈项目
聚焦 PHP MVC 架构实践
覆盖完整电商业务流程</a:t>
            </a:r>
            <a:endParaRPr sz="1200" b="0" i="0">
              <a:solidFill>
                <a:srgbClr val="555F73"/>
              </a:solidFill>
            </a:endParaRPr>
          </a:p>
        </p:txBody>
      </p:sp>
      <p:sp>
        <p:nvSpPr>
          <p:cNvPr id="11" name="Rectangle 10"/>
          <p:cNvSpPr/>
          <p:nvPr/>
        </p:nvSpPr>
        <p:spPr>
          <a:xfrm>
            <a:off x="3227832" y="1325880"/>
            <a:ext cx="2633472" cy="2926080"/>
          </a:xfrm>
          <a:prstGeom prst="rect">
            <a:avLst/>
          </a:prstGeom>
          <a:solidFill>
            <a:srgbClr val="FFFFFF"/>
          </a:solidFill>
          <a:ln w="10160">
            <a:solidFill>
              <a:srgbClr val="CBD9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3227832" y="1325880"/>
            <a:ext cx="2633472" cy="73152"/>
          </a:xfrm>
          <a:prstGeom prst="rect">
            <a:avLst/>
          </a:prstGeom>
          <a:solidFill>
            <a:srgbClr val="257A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227832" y="1435608"/>
            <a:ext cx="263347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0" i="0">
                <a:solidFill>
                  <a:srgbClr val="1E1E2E"/>
                </a:solidFill>
              </a:rPr>
              <a:t>🎯</a:t>
            </a:r>
            <a:endParaRPr sz="2400" b="0" i="0">
              <a:solidFill>
                <a:srgbClr val="1E1E2E"/>
              </a:solidFill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3227832" y="1874520"/>
            <a:ext cx="263347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257ABF"/>
                </a:solidFill>
              </a:rPr>
              <a:t>解决问题</a:t>
            </a:r>
            <a:endParaRPr sz="1400" b="1" i="0">
              <a:solidFill>
                <a:srgbClr val="257ABF"/>
              </a:solidFill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3364992" y="2286000"/>
            <a:ext cx="2359152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555F73"/>
                </a:solidFill>
              </a:rPr>
              <a:t>在线购物全流程
商品管理与展示
用户权限与安全</a:t>
            </a:r>
            <a:endParaRPr sz="1200" b="0" i="0">
              <a:solidFill>
                <a:srgbClr val="555F73"/>
              </a:solidFill>
            </a:endParaRPr>
          </a:p>
        </p:txBody>
      </p:sp>
      <p:sp>
        <p:nvSpPr>
          <p:cNvPr id="16" name="Rectangle 15"/>
          <p:cNvSpPr/>
          <p:nvPr/>
        </p:nvSpPr>
        <p:spPr>
          <a:xfrm>
            <a:off x="6135624" y="1325880"/>
            <a:ext cx="2633472" cy="2926080"/>
          </a:xfrm>
          <a:prstGeom prst="rect">
            <a:avLst/>
          </a:prstGeom>
          <a:solidFill>
            <a:srgbClr val="FFFFFF"/>
          </a:solidFill>
          <a:ln w="10160">
            <a:solidFill>
              <a:srgbClr val="CBD9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135624" y="1325880"/>
            <a:ext cx="2633472" cy="73152"/>
          </a:xfrm>
          <a:prstGeom prst="rect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135624" y="1435608"/>
            <a:ext cx="263347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0" i="0">
                <a:solidFill>
                  <a:srgbClr val="1E1E2E"/>
                </a:solidFill>
              </a:rPr>
              <a:t>⚙️</a:t>
            </a:r>
            <a:endParaRPr sz="2400" b="0" i="0">
              <a:solidFill>
                <a:srgbClr val="1E1E2E"/>
              </a:solidFill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6135624" y="1874520"/>
            <a:ext cx="263347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27AE60"/>
                </a:solidFill>
              </a:rPr>
              <a:t>核心特点</a:t>
            </a:r>
            <a:endParaRPr sz="1400" b="1" i="0">
              <a:solidFill>
                <a:srgbClr val="27AE60"/>
              </a:solidFill>
            </a:endParaRPr>
          </a:p>
        </p:txBody>
      </p:sp>
      <p:sp>
        <p:nvSpPr>
          <p:cNvPr id="20" name="TextBox 19"/>
          <p:cNvSpPr txBox="1"/>
          <p:nvPr/>
        </p:nvSpPr>
        <p:spPr>
          <a:xfrm>
            <a:off x="6272784" y="2286000"/>
            <a:ext cx="2359152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555F73"/>
                </a:solidFill>
              </a:rPr>
              <a:t>原生 PHP 不依赖大框架
MVC 清晰分层解耦
PSR-4 命名空间规范</a:t>
            </a:r>
            <a:endParaRPr sz="1200" b="0" i="0">
              <a:solidFill>
                <a:srgbClr val="555F73"/>
              </a:solidFill>
            </a:endParaRPr>
          </a:p>
        </p:txBody>
      </p:sp>
      <p:sp>
        <p:nvSpPr>
          <p:cNvPr id="21" name="Rectangle 20"/>
          <p:cNvSpPr/>
          <p:nvPr/>
        </p:nvSpPr>
        <p:spPr>
          <a:xfrm>
            <a:off x="9043416" y="1325880"/>
            <a:ext cx="2633472" cy="2926080"/>
          </a:xfrm>
          <a:prstGeom prst="rect">
            <a:avLst/>
          </a:prstGeom>
          <a:solidFill>
            <a:srgbClr val="FFFFFF"/>
          </a:solidFill>
          <a:ln w="10160">
            <a:solidFill>
              <a:srgbClr val="CBD9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9043416" y="1325880"/>
            <a:ext cx="2633472" cy="73152"/>
          </a:xfrm>
          <a:prstGeom prst="rect">
            <a:avLst/>
          </a:prstGeom>
          <a:solidFill>
            <a:srgbClr val="E67E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043416" y="1435608"/>
            <a:ext cx="263347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0" i="0">
                <a:solidFill>
                  <a:srgbClr val="1E1E2E"/>
                </a:solidFill>
              </a:rPr>
              <a:t>📦</a:t>
            </a:r>
            <a:endParaRPr sz="2400" b="0" i="0">
              <a:solidFill>
                <a:srgbClr val="1E1E2E"/>
              </a:solidFill>
            </a:endParaRPr>
          </a:p>
        </p:txBody>
      </p:sp>
      <p:sp>
        <p:nvSpPr>
          <p:cNvPr id="24" name="TextBox 23"/>
          <p:cNvSpPr txBox="1"/>
          <p:nvPr/>
        </p:nvSpPr>
        <p:spPr>
          <a:xfrm>
            <a:off x="9043416" y="1874520"/>
            <a:ext cx="263347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E67E22"/>
                </a:solidFill>
              </a:rPr>
              <a:t>交付物</a:t>
            </a:r>
            <a:endParaRPr sz="1400" b="1" i="0">
              <a:solidFill>
                <a:srgbClr val="E67E22"/>
              </a:solidFill>
            </a:endParaRPr>
          </a:p>
        </p:txBody>
      </p:sp>
      <p:sp>
        <p:nvSpPr>
          <p:cNvPr id="25" name="TextBox 24"/>
          <p:cNvSpPr txBox="1"/>
          <p:nvPr/>
        </p:nvSpPr>
        <p:spPr>
          <a:xfrm>
            <a:off x="9180576" y="2286000"/>
            <a:ext cx="2359152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555F73"/>
                </a:solidFill>
              </a:rPr>
              <a:t>可运行 Web 应用
完整数据库 SQL 脚本
README 部署文档</a:t>
            </a:r>
            <a:endParaRPr sz="1200" b="0" i="0">
              <a:solidFill>
                <a:srgbClr val="555F73"/>
              </a:solidFill>
            </a:endParaRPr>
          </a:p>
        </p:txBody>
      </p:sp>
      <p:sp>
        <p:nvSpPr>
          <p:cNvPr id="26" name="Rectangle 25"/>
          <p:cNvSpPr/>
          <p:nvPr/>
        </p:nvSpPr>
        <p:spPr>
          <a:xfrm>
            <a:off x="320040" y="4572000"/>
            <a:ext cx="2148840" cy="1188720"/>
          </a:xfrm>
          <a:prstGeom prst="rect">
            <a:avLst/>
          </a:prstGeom>
          <a:solidFill>
            <a:srgbClr val="FFFFFF"/>
          </a:solidFill>
          <a:ln w="6350">
            <a:solidFill>
              <a:srgbClr val="CBD9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320040" y="4663440"/>
            <a:ext cx="21488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1A3C6E"/>
                </a:solidFill>
              </a:rPr>
              <a:t>🏠 首页展示</a:t>
            </a:r>
            <a:endParaRPr sz="1300" b="1" i="0">
              <a:solidFill>
                <a:srgbClr val="1A3C6E"/>
              </a:solidFill>
            </a:endParaRPr>
          </a:p>
        </p:txBody>
      </p:sp>
      <p:sp>
        <p:nvSpPr>
          <p:cNvPr id="28" name="TextBox 27"/>
          <p:cNvSpPr txBox="1"/>
          <p:nvPr/>
        </p:nvSpPr>
        <p:spPr>
          <a:xfrm>
            <a:off x="320040" y="5120640"/>
            <a:ext cx="21488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555F73"/>
                </a:solidFill>
              </a:rPr>
              <a:t>轮播图 + 分类 + 热门商品</a:t>
            </a:r>
            <a:endParaRPr sz="1100" b="0" i="0">
              <a:solidFill>
                <a:srgbClr val="555F73"/>
              </a:solidFill>
            </a:endParaRPr>
          </a:p>
        </p:txBody>
      </p:sp>
      <p:sp>
        <p:nvSpPr>
          <p:cNvPr id="29" name="Rectangle 28"/>
          <p:cNvSpPr/>
          <p:nvPr/>
        </p:nvSpPr>
        <p:spPr>
          <a:xfrm>
            <a:off x="2651760" y="4572000"/>
            <a:ext cx="2148840" cy="1188720"/>
          </a:xfrm>
          <a:prstGeom prst="rect">
            <a:avLst/>
          </a:prstGeom>
          <a:solidFill>
            <a:srgbClr val="FFFFFF"/>
          </a:solidFill>
          <a:ln w="6350">
            <a:solidFill>
              <a:srgbClr val="CBD9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2651760" y="4663440"/>
            <a:ext cx="21488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1A3C6E"/>
                </a:solidFill>
              </a:rPr>
              <a:t>🛍️ 商品系统</a:t>
            </a:r>
            <a:endParaRPr sz="1300" b="1" i="0">
              <a:solidFill>
                <a:srgbClr val="1A3C6E"/>
              </a:solidFill>
            </a:endParaRPr>
          </a:p>
        </p:txBody>
      </p:sp>
      <p:sp>
        <p:nvSpPr>
          <p:cNvPr id="31" name="TextBox 30"/>
          <p:cNvSpPr txBox="1"/>
          <p:nvPr/>
        </p:nvSpPr>
        <p:spPr>
          <a:xfrm>
            <a:off x="2651760" y="5120640"/>
            <a:ext cx="2148840" cy="2603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555F73"/>
                </a:solidFill>
              </a:rPr>
              <a:t>列表 / 详情 / 搜索 </a:t>
            </a:r>
            <a:endParaRPr sz="1100" b="0" i="0">
              <a:solidFill>
                <a:srgbClr val="555F73"/>
              </a:solidFill>
            </a:endParaRPr>
          </a:p>
        </p:txBody>
      </p:sp>
      <p:sp>
        <p:nvSpPr>
          <p:cNvPr id="32" name="Rectangle 31"/>
          <p:cNvSpPr/>
          <p:nvPr/>
        </p:nvSpPr>
        <p:spPr>
          <a:xfrm>
            <a:off x="4983479" y="4572000"/>
            <a:ext cx="2148840" cy="1188720"/>
          </a:xfrm>
          <a:prstGeom prst="rect">
            <a:avLst/>
          </a:prstGeom>
          <a:solidFill>
            <a:srgbClr val="FFFFFF"/>
          </a:solidFill>
          <a:ln w="6350">
            <a:solidFill>
              <a:srgbClr val="CBD9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4983479" y="4663440"/>
            <a:ext cx="21488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1A3C6E"/>
                </a:solidFill>
              </a:rPr>
              <a:t>🛒 购物车</a:t>
            </a:r>
            <a:endParaRPr sz="1300" b="1" i="0">
              <a:solidFill>
                <a:srgbClr val="1A3C6E"/>
              </a:solidFill>
            </a:endParaRPr>
          </a:p>
        </p:txBody>
      </p:sp>
      <p:sp>
        <p:nvSpPr>
          <p:cNvPr id="34" name="TextBox 33"/>
          <p:cNvSpPr txBox="1"/>
          <p:nvPr/>
        </p:nvSpPr>
        <p:spPr>
          <a:xfrm>
            <a:off x="4983479" y="5120640"/>
            <a:ext cx="21488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555F73"/>
                </a:solidFill>
              </a:rPr>
              <a:t>增删改查 + 数量调整 + 结算</a:t>
            </a:r>
            <a:endParaRPr sz="1100" b="0" i="0">
              <a:solidFill>
                <a:srgbClr val="555F73"/>
              </a:solidFill>
            </a:endParaRPr>
          </a:p>
        </p:txBody>
      </p:sp>
      <p:sp>
        <p:nvSpPr>
          <p:cNvPr id="35" name="Rectangle 34"/>
          <p:cNvSpPr/>
          <p:nvPr/>
        </p:nvSpPr>
        <p:spPr>
          <a:xfrm>
            <a:off x="7315199" y="4572000"/>
            <a:ext cx="2148840" cy="1188720"/>
          </a:xfrm>
          <a:prstGeom prst="rect">
            <a:avLst/>
          </a:prstGeom>
          <a:solidFill>
            <a:srgbClr val="FFFFFF"/>
          </a:solidFill>
          <a:ln w="6350">
            <a:solidFill>
              <a:srgbClr val="CBD9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7315199" y="4663440"/>
            <a:ext cx="21488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1A3C6E"/>
                </a:solidFill>
              </a:rPr>
              <a:t>👤 用户中心</a:t>
            </a:r>
            <a:endParaRPr sz="1300" b="1" i="0">
              <a:solidFill>
                <a:srgbClr val="1A3C6E"/>
              </a:solidFill>
            </a:endParaRPr>
          </a:p>
        </p:txBody>
      </p:sp>
      <p:sp>
        <p:nvSpPr>
          <p:cNvPr id="37" name="TextBox 36"/>
          <p:cNvSpPr txBox="1"/>
          <p:nvPr/>
        </p:nvSpPr>
        <p:spPr>
          <a:xfrm>
            <a:off x="7315199" y="5120640"/>
            <a:ext cx="21488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555F73"/>
                </a:solidFill>
              </a:rPr>
              <a:t>注册登录 / 订单 / 地址管理</a:t>
            </a:r>
            <a:endParaRPr sz="1100" b="0" i="0">
              <a:solidFill>
                <a:srgbClr val="555F73"/>
              </a:solidFill>
            </a:endParaRPr>
          </a:p>
        </p:txBody>
      </p:sp>
      <p:sp>
        <p:nvSpPr>
          <p:cNvPr id="38" name="Rectangle 37"/>
          <p:cNvSpPr/>
          <p:nvPr/>
        </p:nvSpPr>
        <p:spPr>
          <a:xfrm>
            <a:off x="9646919" y="4572000"/>
            <a:ext cx="2148840" cy="1188720"/>
          </a:xfrm>
          <a:prstGeom prst="rect">
            <a:avLst/>
          </a:prstGeom>
          <a:solidFill>
            <a:srgbClr val="FFFFFF"/>
          </a:solidFill>
          <a:ln w="6350">
            <a:solidFill>
              <a:srgbClr val="CBD9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9646919" y="4663440"/>
            <a:ext cx="21488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1A3C6E"/>
                </a:solidFill>
              </a:rPr>
              <a:t>🔐 权限管理</a:t>
            </a:r>
            <a:endParaRPr sz="1300" b="1" i="0">
              <a:solidFill>
                <a:srgbClr val="1A3C6E"/>
              </a:solidFill>
            </a:endParaRPr>
          </a:p>
        </p:txBody>
      </p:sp>
      <p:sp>
        <p:nvSpPr>
          <p:cNvPr id="40" name="TextBox 39"/>
          <p:cNvSpPr txBox="1"/>
          <p:nvPr/>
        </p:nvSpPr>
        <p:spPr>
          <a:xfrm>
            <a:off x="9646919" y="5120640"/>
            <a:ext cx="21488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555F73"/>
                </a:solidFill>
              </a:rPr>
              <a:t>普通用户 + 管理员双角色</a:t>
            </a:r>
            <a:endParaRPr sz="1100" b="0" i="0">
              <a:solidFill>
                <a:srgbClr val="555F73"/>
              </a:solidFill>
            </a:endParaRPr>
          </a:p>
        </p:txBody>
      </p:sp>
      <p:sp>
        <p:nvSpPr>
          <p:cNvPr id="41" name="Rectangle 40"/>
          <p:cNvSpPr/>
          <p:nvPr/>
        </p:nvSpPr>
        <p:spPr>
          <a:xfrm>
            <a:off x="0" y="6675120"/>
            <a:ext cx="12188952" cy="182880"/>
          </a:xfrm>
          <a:prstGeom prst="rect">
            <a:avLst/>
          </a:prstGeom>
          <a:solidFill>
            <a:srgbClr val="257A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4F7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51560"/>
          </a:xfrm>
          <a:prstGeom prst="rect">
            <a:avLst/>
          </a:prstGeom>
          <a:solidFill>
            <a:srgbClr val="1A3C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11480" y="164592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</a:rPr>
              <a:t>MVC 架构设计</a:t>
            </a:r>
            <a:endParaRPr sz="2600" b="1" i="0">
              <a:solidFill>
                <a:srgbClr val="FFFFFF"/>
              </a:solidFill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411480" y="694944"/>
            <a:ext cx="91440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B0C8E8"/>
                </a:solidFill>
              </a:rPr>
              <a:t>Model - View - Controller</a:t>
            </a:r>
            <a:endParaRPr sz="1400" b="0" i="0">
              <a:solidFill>
                <a:srgbClr val="B0C8E8"/>
              </a:solidFill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274320" y="2651760"/>
            <a:ext cx="1554480" cy="1371600"/>
          </a:xfrm>
          <a:prstGeom prst="rect">
            <a:avLst/>
          </a:prstGeom>
          <a:solidFill>
            <a:srgbClr val="555F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74320" y="2706624"/>
            <a:ext cx="15544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</a:rPr>
              <a:t>浏览器请求</a:t>
            </a:r>
            <a:endParaRPr sz="1200" b="1" i="0">
              <a:solidFill>
                <a:srgbClr val="FFFFFF"/>
              </a:solidFill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274320" y="3337560"/>
            <a:ext cx="15544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DDEEFF"/>
                </a:solidFill>
              </a:rPr>
              <a:t>Browser</a:t>
            </a:r>
            <a:endParaRPr sz="1000" b="0" i="0">
              <a:solidFill>
                <a:srgbClr val="DDEEFF"/>
              </a:solidFill>
            </a:endParaRPr>
          </a:p>
        </p:txBody>
      </p:sp>
      <p:sp>
        <p:nvSpPr>
          <p:cNvPr id="9" name="Rectangle 8"/>
          <p:cNvSpPr/>
          <p:nvPr/>
        </p:nvSpPr>
        <p:spPr>
          <a:xfrm>
            <a:off x="1920240" y="2651760"/>
            <a:ext cx="1554480" cy="1371600"/>
          </a:xfrm>
          <a:prstGeom prst="rect">
            <a:avLst/>
          </a:prstGeom>
          <a:solidFill>
            <a:srgbClr val="257A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920240" y="2706624"/>
            <a:ext cx="15544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</a:rPr>
              <a:t>public/
index.php</a:t>
            </a:r>
            <a:endParaRPr sz="1200" b="1" i="0">
              <a:solidFill>
                <a:srgbClr val="FFFFFF"/>
              </a:solidFill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1920240" y="3337560"/>
            <a:ext cx="15544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DDEEFF"/>
                </a:solidFill>
              </a:rPr>
              <a:t>统一入口</a:t>
            </a:r>
            <a:endParaRPr sz="1000" b="0" i="0">
              <a:solidFill>
                <a:srgbClr val="DDEEFF"/>
              </a:solidFill>
            </a:endParaRPr>
          </a:p>
        </p:txBody>
      </p:sp>
      <p:sp>
        <p:nvSpPr>
          <p:cNvPr id="12" name="Rectangle 11"/>
          <p:cNvSpPr/>
          <p:nvPr/>
        </p:nvSpPr>
        <p:spPr>
          <a:xfrm>
            <a:off x="3657600" y="2651760"/>
            <a:ext cx="1554480" cy="1371600"/>
          </a:xfrm>
          <a:prstGeom prst="rect">
            <a:avLst/>
          </a:prstGeom>
          <a:solidFill>
            <a:srgbClr val="1A3C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657600" y="2706624"/>
            <a:ext cx="15544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</a:rPr>
              <a:t>framework/
app.php</a:t>
            </a:r>
            <a:endParaRPr sz="1200" b="1" i="0">
              <a:solidFill>
                <a:srgbClr val="FFFFFF"/>
              </a:solidFill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3657600" y="3337560"/>
            <a:ext cx="15544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DDEEFF"/>
                </a:solidFill>
              </a:rPr>
              <a:t>路由分发</a:t>
            </a:r>
            <a:endParaRPr sz="1000" b="0" i="0">
              <a:solidFill>
                <a:srgbClr val="DDEEFF"/>
              </a:solidFill>
            </a:endParaRPr>
          </a:p>
        </p:txBody>
      </p:sp>
      <p:sp>
        <p:nvSpPr>
          <p:cNvPr id="15" name="Rectangle 14"/>
          <p:cNvSpPr/>
          <p:nvPr/>
        </p:nvSpPr>
        <p:spPr>
          <a:xfrm>
            <a:off x="5486400" y="1188720"/>
            <a:ext cx="1554480" cy="1371600"/>
          </a:xfrm>
          <a:prstGeom prst="rect">
            <a:avLst/>
          </a:prstGeom>
          <a:solidFill>
            <a:srgbClr val="E67E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486400" y="1243584"/>
            <a:ext cx="15544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</a:rPr>
              <a:t>Controller</a:t>
            </a:r>
            <a:endParaRPr sz="1200" b="1" i="0">
              <a:solidFill>
                <a:srgbClr val="FFFFFF"/>
              </a:solidFill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5486400" y="1874520"/>
            <a:ext cx="15544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DDEEFF"/>
                </a:solidFill>
              </a:rPr>
              <a:t>接收请求
调用模型
返回视图</a:t>
            </a:r>
            <a:endParaRPr sz="1000" b="0" i="0">
              <a:solidFill>
                <a:srgbClr val="DDEEFF"/>
              </a:solidFill>
            </a:endParaRPr>
          </a:p>
        </p:txBody>
      </p:sp>
      <p:sp>
        <p:nvSpPr>
          <p:cNvPr id="18" name="Rectangle 17"/>
          <p:cNvSpPr/>
          <p:nvPr/>
        </p:nvSpPr>
        <p:spPr>
          <a:xfrm>
            <a:off x="7955279" y="1188720"/>
            <a:ext cx="1554480" cy="1371600"/>
          </a:xfrm>
          <a:prstGeom prst="rect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955279" y="1243584"/>
            <a:ext cx="15544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</a:rPr>
              <a:t>Model</a:t>
            </a:r>
            <a:endParaRPr sz="1200" b="1" i="0">
              <a:solidFill>
                <a:srgbClr val="FFFFFF"/>
              </a:solidFill>
            </a:endParaRPr>
          </a:p>
        </p:txBody>
      </p:sp>
      <p:sp>
        <p:nvSpPr>
          <p:cNvPr id="20" name="TextBox 19"/>
          <p:cNvSpPr txBox="1"/>
          <p:nvPr/>
        </p:nvSpPr>
        <p:spPr>
          <a:xfrm>
            <a:off x="7955279" y="1874520"/>
            <a:ext cx="15544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DDEEFF"/>
                </a:solidFill>
              </a:rPr>
              <a:t>数据库操作
业务逻辑
数据校验</a:t>
            </a:r>
            <a:endParaRPr sz="1000" b="0" i="0">
              <a:solidFill>
                <a:srgbClr val="DDEEFF"/>
              </a:solidFill>
            </a:endParaRPr>
          </a:p>
        </p:txBody>
      </p:sp>
      <p:sp>
        <p:nvSpPr>
          <p:cNvPr id="21" name="Rectangle 20"/>
          <p:cNvSpPr/>
          <p:nvPr/>
        </p:nvSpPr>
        <p:spPr>
          <a:xfrm>
            <a:off x="10241280" y="1188720"/>
            <a:ext cx="1554480" cy="1371600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0241280" y="1243584"/>
            <a:ext cx="15544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</a:rPr>
              <a:t>MySQL</a:t>
            </a:r>
            <a:endParaRPr sz="1200" b="1" i="0">
              <a:solidFill>
                <a:srgbClr val="FFFFFF"/>
              </a:solidFill>
            </a:endParaRPr>
          </a:p>
        </p:txBody>
      </p:sp>
      <p:sp>
        <p:nvSpPr>
          <p:cNvPr id="23" name="TextBox 22"/>
          <p:cNvSpPr txBox="1"/>
          <p:nvPr/>
        </p:nvSpPr>
        <p:spPr>
          <a:xfrm>
            <a:off x="10241280" y="1874520"/>
            <a:ext cx="15544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DDEEFF"/>
                </a:solidFill>
              </a:rPr>
              <a:t>持久化存储
表结构管理</a:t>
            </a:r>
            <a:endParaRPr sz="1000" b="0" i="0">
              <a:solidFill>
                <a:srgbClr val="DDEEFF"/>
              </a:solidFill>
            </a:endParaRPr>
          </a:p>
        </p:txBody>
      </p:sp>
      <p:sp>
        <p:nvSpPr>
          <p:cNvPr id="24" name="Rectangle 23"/>
          <p:cNvSpPr/>
          <p:nvPr/>
        </p:nvSpPr>
        <p:spPr>
          <a:xfrm>
            <a:off x="7955279" y="4023360"/>
            <a:ext cx="1554480" cy="1371600"/>
          </a:xfrm>
          <a:prstGeom prst="rect">
            <a:avLst/>
          </a:prstGeom>
          <a:solidFill>
            <a:srgbClr val="257A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7955279" y="4078224"/>
            <a:ext cx="15544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</a:rPr>
              <a:t>View</a:t>
            </a:r>
            <a:endParaRPr sz="1200" b="1" i="0">
              <a:solidFill>
                <a:srgbClr val="FFFFFF"/>
              </a:solidFill>
            </a:endParaRPr>
          </a:p>
        </p:txBody>
      </p:sp>
      <p:sp>
        <p:nvSpPr>
          <p:cNvPr id="26" name="TextBox 25"/>
          <p:cNvSpPr txBox="1"/>
          <p:nvPr/>
        </p:nvSpPr>
        <p:spPr>
          <a:xfrm>
            <a:off x="7955279" y="4709160"/>
            <a:ext cx="15544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DDEEFF"/>
                </a:solidFill>
              </a:rPr>
              <a:t>HTML模板
CSS/JS
数据渲染</a:t>
            </a:r>
            <a:endParaRPr sz="1000" b="0" i="0">
              <a:solidFill>
                <a:srgbClr val="DDEEFF"/>
              </a:solidFill>
            </a:endParaRPr>
          </a:p>
        </p:txBody>
      </p:sp>
      <p:sp>
        <p:nvSpPr>
          <p:cNvPr id="27" name="Rectangle 26"/>
          <p:cNvSpPr/>
          <p:nvPr/>
        </p:nvSpPr>
        <p:spPr>
          <a:xfrm>
            <a:off x="1847088" y="3337560"/>
            <a:ext cx="54864" cy="38100"/>
          </a:xfrm>
          <a:prstGeom prst="rect">
            <a:avLst/>
          </a:prstGeom>
          <a:solidFill>
            <a:srgbClr val="555F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1755648" y="3227832"/>
            <a:ext cx="1828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555F73"/>
                </a:solidFill>
              </a:rPr>
              <a:t>▶</a:t>
            </a:r>
            <a:endParaRPr sz="1000" b="0" i="0">
              <a:solidFill>
                <a:srgbClr val="555F73"/>
              </a:solidFill>
            </a:endParaRPr>
          </a:p>
        </p:txBody>
      </p:sp>
      <p:sp>
        <p:nvSpPr>
          <p:cNvPr id="29" name="Rectangle 28"/>
          <p:cNvSpPr/>
          <p:nvPr/>
        </p:nvSpPr>
        <p:spPr>
          <a:xfrm>
            <a:off x="3493008" y="3337560"/>
            <a:ext cx="146304" cy="38100"/>
          </a:xfrm>
          <a:prstGeom prst="rect">
            <a:avLst/>
          </a:prstGeom>
          <a:solidFill>
            <a:srgbClr val="555F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3493008" y="3227832"/>
            <a:ext cx="1828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555F73"/>
                </a:solidFill>
              </a:rPr>
              <a:t>▶</a:t>
            </a:r>
            <a:endParaRPr sz="1000" b="0" i="0">
              <a:solidFill>
                <a:srgbClr val="555F73"/>
              </a:solidFill>
            </a:endParaRPr>
          </a:p>
        </p:txBody>
      </p:sp>
      <p:sp>
        <p:nvSpPr>
          <p:cNvPr id="31" name="Rectangle 30"/>
          <p:cNvSpPr/>
          <p:nvPr/>
        </p:nvSpPr>
        <p:spPr>
          <a:xfrm>
            <a:off x="5230368" y="3337560"/>
            <a:ext cx="237744" cy="38100"/>
          </a:xfrm>
          <a:prstGeom prst="rect">
            <a:avLst/>
          </a:prstGeom>
          <a:solidFill>
            <a:srgbClr val="555F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321808" y="3227832"/>
            <a:ext cx="1828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555F73"/>
                </a:solidFill>
              </a:rPr>
              <a:t>▶</a:t>
            </a:r>
            <a:endParaRPr sz="1000" b="0" i="0">
              <a:solidFill>
                <a:srgbClr val="555F73"/>
              </a:solidFill>
            </a:endParaRPr>
          </a:p>
        </p:txBody>
      </p:sp>
      <p:sp>
        <p:nvSpPr>
          <p:cNvPr id="33" name="Rectangle 32"/>
          <p:cNvSpPr/>
          <p:nvPr/>
        </p:nvSpPr>
        <p:spPr>
          <a:xfrm>
            <a:off x="7059168" y="1874519"/>
            <a:ext cx="877823" cy="38100"/>
          </a:xfrm>
          <a:prstGeom prst="rect">
            <a:avLst/>
          </a:prstGeom>
          <a:solidFill>
            <a:srgbClr val="555F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7790687" y="1764791"/>
            <a:ext cx="1828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555F73"/>
                </a:solidFill>
              </a:rPr>
              <a:t>▶</a:t>
            </a:r>
            <a:endParaRPr sz="1000" b="0" i="0">
              <a:solidFill>
                <a:srgbClr val="555F73"/>
              </a:solidFill>
            </a:endParaRPr>
          </a:p>
        </p:txBody>
      </p:sp>
      <p:sp>
        <p:nvSpPr>
          <p:cNvPr id="35" name="Rectangle 34"/>
          <p:cNvSpPr/>
          <p:nvPr/>
        </p:nvSpPr>
        <p:spPr>
          <a:xfrm>
            <a:off x="9528048" y="1874519"/>
            <a:ext cx="694944" cy="38100"/>
          </a:xfrm>
          <a:prstGeom prst="rect">
            <a:avLst/>
          </a:prstGeom>
          <a:solidFill>
            <a:srgbClr val="555F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10076688" y="1764791"/>
            <a:ext cx="1828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555F73"/>
                </a:solidFill>
              </a:rPr>
              <a:t>▶</a:t>
            </a:r>
            <a:endParaRPr sz="1000" b="0" i="0">
              <a:solidFill>
                <a:srgbClr val="555F73"/>
              </a:solidFill>
            </a:endParaRPr>
          </a:p>
        </p:txBody>
      </p:sp>
      <p:sp>
        <p:nvSpPr>
          <p:cNvPr id="37" name="Rectangle 36"/>
          <p:cNvSpPr/>
          <p:nvPr/>
        </p:nvSpPr>
        <p:spPr>
          <a:xfrm>
            <a:off x="6263640" y="2560320"/>
            <a:ext cx="38100" cy="1463040"/>
          </a:xfrm>
          <a:prstGeom prst="rect">
            <a:avLst/>
          </a:prstGeom>
          <a:solidFill>
            <a:srgbClr val="555F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6153912" y="3931920"/>
            <a:ext cx="25603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555F73"/>
                </a:solidFill>
              </a:rPr>
              <a:t>▼</a:t>
            </a:r>
            <a:endParaRPr sz="1000" b="0" i="0">
              <a:solidFill>
                <a:srgbClr val="555F73"/>
              </a:solidFill>
            </a:endParaRPr>
          </a:p>
        </p:txBody>
      </p:sp>
      <p:sp>
        <p:nvSpPr>
          <p:cNvPr id="39" name="TextBox 38"/>
          <p:cNvSpPr txBox="1"/>
          <p:nvPr/>
        </p:nvSpPr>
        <p:spPr>
          <a:xfrm>
            <a:off x="5806440" y="3017520"/>
            <a:ext cx="457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1">
                <a:solidFill>
                  <a:srgbClr val="555F73"/>
                </a:solidFill>
              </a:rPr>
              <a:t>渲染</a:t>
            </a:r>
            <a:endParaRPr sz="1000" b="0" i="1">
              <a:solidFill>
                <a:srgbClr val="555F73"/>
              </a:solidFill>
            </a:endParaRPr>
          </a:p>
        </p:txBody>
      </p:sp>
      <p:sp>
        <p:nvSpPr>
          <p:cNvPr id="40" name="Rectangle 39"/>
          <p:cNvSpPr/>
          <p:nvPr/>
        </p:nvSpPr>
        <p:spPr>
          <a:xfrm>
            <a:off x="502920" y="4709160"/>
            <a:ext cx="10652760" cy="38100"/>
          </a:xfrm>
          <a:prstGeom prst="rect">
            <a:avLst/>
          </a:prstGeom>
          <a:solidFill>
            <a:srgbClr val="8899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320040" y="4572000"/>
            <a:ext cx="2286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8899AA"/>
                </a:solidFill>
              </a:rPr>
              <a:t>◀</a:t>
            </a:r>
            <a:endParaRPr sz="1000" b="0" i="0">
              <a:solidFill>
                <a:srgbClr val="8899AA"/>
              </a:solidFill>
            </a:endParaRPr>
          </a:p>
        </p:txBody>
      </p:sp>
      <p:sp>
        <p:nvSpPr>
          <p:cNvPr id="42" name="TextBox 41"/>
          <p:cNvSpPr txBox="1"/>
          <p:nvPr/>
        </p:nvSpPr>
        <p:spPr>
          <a:xfrm>
            <a:off x="4572000" y="4754880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1">
                <a:solidFill>
                  <a:srgbClr val="555F73"/>
                </a:solidFill>
              </a:rPr>
              <a:t>HTTP Response → 浏览器渲染</a:t>
            </a:r>
            <a:endParaRPr sz="1000" b="0" i="1">
              <a:solidFill>
                <a:srgbClr val="555F73"/>
              </a:solidFill>
            </a:endParaRPr>
          </a:p>
        </p:txBody>
      </p:sp>
      <p:sp>
        <p:nvSpPr>
          <p:cNvPr id="43" name="Rectangle 42"/>
          <p:cNvSpPr/>
          <p:nvPr/>
        </p:nvSpPr>
        <p:spPr>
          <a:xfrm>
            <a:off x="0" y="6675120"/>
            <a:ext cx="12188952" cy="182880"/>
          </a:xfrm>
          <a:prstGeom prst="rect">
            <a:avLst/>
          </a:prstGeom>
          <a:solidFill>
            <a:srgbClr val="257A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4F7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51560"/>
          </a:xfrm>
          <a:prstGeom prst="rect">
            <a:avLst/>
          </a:prstGeom>
          <a:solidFill>
            <a:srgbClr val="1A3C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11480" y="164592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</a:rPr>
              <a:t>API 接口列表</a:t>
            </a:r>
            <a:endParaRPr sz="2600" b="1" i="0">
              <a:solidFill>
                <a:srgbClr val="FFFFFF"/>
              </a:solidFill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411480" y="694944"/>
            <a:ext cx="91440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B0C8E8"/>
                </a:solidFill>
              </a:rPr>
              <a:t>RESTful API Endpoints</a:t>
            </a:r>
            <a:endParaRPr sz="1400" b="0" i="0">
              <a:solidFill>
                <a:srgbClr val="B0C8E8"/>
              </a:solidFill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320040" y="1325880"/>
            <a:ext cx="2834640" cy="411480"/>
          </a:xfrm>
          <a:prstGeom prst="rect">
            <a:avLst/>
          </a:prstGeom>
          <a:solidFill>
            <a:srgbClr val="1A3C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11480" y="1371600"/>
            <a:ext cx="2560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</a:rPr>
              <a:t>👤 用户</a:t>
            </a:r>
            <a:endParaRPr sz="1200" b="1" i="0">
              <a:solidFill>
                <a:srgbClr val="FFFFFF"/>
              </a:solidFill>
            </a:endParaRPr>
          </a:p>
        </p:txBody>
      </p:sp>
      <p:sp>
        <p:nvSpPr>
          <p:cNvPr id="8" name="Rectangle 7"/>
          <p:cNvSpPr/>
          <p:nvPr/>
        </p:nvSpPr>
        <p:spPr>
          <a:xfrm>
            <a:off x="320040" y="1737360"/>
            <a:ext cx="2834640" cy="749808"/>
          </a:xfrm>
          <a:prstGeom prst="rect">
            <a:avLst/>
          </a:prstGeom>
          <a:solidFill>
            <a:srgbClr val="FFFFFF"/>
          </a:solidFill>
          <a:ln w="3810">
            <a:solidFill>
              <a:srgbClr val="CBD9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411480" y="1828800"/>
            <a:ext cx="502920" cy="237744"/>
          </a:xfrm>
          <a:prstGeom prst="rect">
            <a:avLst/>
          </a:prstGeom>
          <a:solidFill>
            <a:srgbClr val="E67E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11480" y="1810512"/>
            <a:ext cx="5029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</a:rPr>
              <a:t>POST</a:t>
            </a:r>
            <a:endParaRPr sz="900" b="1" i="0">
              <a:solidFill>
                <a:srgbClr val="FFFFFF"/>
              </a:solidFill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978408" y="1773936"/>
            <a:ext cx="2011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1A3C6E"/>
                </a:solidFill>
              </a:rPr>
              <a:t>/user/login</a:t>
            </a:r>
            <a:endParaRPr sz="1000" b="1" i="0">
              <a:solidFill>
                <a:srgbClr val="1A3C6E"/>
              </a:solidFill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978408" y="2084832"/>
            <a:ext cx="2011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555F73"/>
                </a:solidFill>
              </a:rPr>
              <a:t>登录</a:t>
            </a:r>
            <a:endParaRPr sz="1000" b="0" i="0">
              <a:solidFill>
                <a:srgbClr val="555F73"/>
              </a:solidFill>
            </a:endParaRPr>
          </a:p>
        </p:txBody>
      </p:sp>
      <p:sp>
        <p:nvSpPr>
          <p:cNvPr id="13" name="Rectangle 12"/>
          <p:cNvSpPr/>
          <p:nvPr/>
        </p:nvSpPr>
        <p:spPr>
          <a:xfrm>
            <a:off x="320040" y="2542032"/>
            <a:ext cx="2834640" cy="749808"/>
          </a:xfrm>
          <a:prstGeom prst="rect">
            <a:avLst/>
          </a:prstGeom>
          <a:solidFill>
            <a:srgbClr val="EAF3FB"/>
          </a:solidFill>
          <a:ln w="3810">
            <a:solidFill>
              <a:srgbClr val="CBD9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11480" y="2633472"/>
            <a:ext cx="502920" cy="237744"/>
          </a:xfrm>
          <a:prstGeom prst="rect">
            <a:avLst/>
          </a:prstGeom>
          <a:solidFill>
            <a:srgbClr val="E67E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11480" y="2615184"/>
            <a:ext cx="5029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</a:rPr>
              <a:t>POST</a:t>
            </a:r>
            <a:endParaRPr sz="900" b="1" i="0">
              <a:solidFill>
                <a:srgbClr val="FFFFFF"/>
              </a:solidFill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978408" y="2578608"/>
            <a:ext cx="2011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1A3C6E"/>
                </a:solidFill>
              </a:rPr>
              <a:t>/user/register</a:t>
            </a:r>
            <a:endParaRPr sz="1000" b="1" i="0">
              <a:solidFill>
                <a:srgbClr val="1A3C6E"/>
              </a:solidFill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978408" y="2889504"/>
            <a:ext cx="2011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555F73"/>
                </a:solidFill>
              </a:rPr>
              <a:t>注册</a:t>
            </a:r>
            <a:endParaRPr sz="1000" b="0" i="0">
              <a:solidFill>
                <a:srgbClr val="555F73"/>
              </a:solidFill>
            </a:endParaRPr>
          </a:p>
        </p:txBody>
      </p:sp>
      <p:sp>
        <p:nvSpPr>
          <p:cNvPr id="18" name="Rectangle 17"/>
          <p:cNvSpPr/>
          <p:nvPr/>
        </p:nvSpPr>
        <p:spPr>
          <a:xfrm>
            <a:off x="320040" y="3346704"/>
            <a:ext cx="2834640" cy="749808"/>
          </a:xfrm>
          <a:prstGeom prst="rect">
            <a:avLst/>
          </a:prstGeom>
          <a:solidFill>
            <a:srgbClr val="FFFFFF"/>
          </a:solidFill>
          <a:ln w="3810">
            <a:solidFill>
              <a:srgbClr val="CBD9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411480" y="3438144"/>
            <a:ext cx="502920" cy="237744"/>
          </a:xfrm>
          <a:prstGeom prst="rect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11480" y="3419856"/>
            <a:ext cx="5029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</a:rPr>
              <a:t>GET</a:t>
            </a:r>
            <a:endParaRPr sz="900" b="1" i="0">
              <a:solidFill>
                <a:srgbClr val="FFFFFF"/>
              </a:solidFill>
            </a:endParaRPr>
          </a:p>
        </p:txBody>
      </p:sp>
      <p:sp>
        <p:nvSpPr>
          <p:cNvPr id="21" name="TextBox 20"/>
          <p:cNvSpPr txBox="1"/>
          <p:nvPr/>
        </p:nvSpPr>
        <p:spPr>
          <a:xfrm>
            <a:off x="978408" y="3383280"/>
            <a:ext cx="2011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1A3C6E"/>
                </a:solidFill>
              </a:rPr>
              <a:t>/captcha</a:t>
            </a:r>
            <a:endParaRPr sz="1000" b="1" i="0">
              <a:solidFill>
                <a:srgbClr val="1A3C6E"/>
              </a:solidFill>
            </a:endParaRPr>
          </a:p>
        </p:txBody>
      </p:sp>
      <p:sp>
        <p:nvSpPr>
          <p:cNvPr id="22" name="TextBox 21"/>
          <p:cNvSpPr txBox="1"/>
          <p:nvPr/>
        </p:nvSpPr>
        <p:spPr>
          <a:xfrm>
            <a:off x="978408" y="3694176"/>
            <a:ext cx="2011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555F73"/>
                </a:solidFill>
              </a:rPr>
              <a:t>验证码</a:t>
            </a:r>
            <a:endParaRPr sz="1000" b="0" i="0">
              <a:solidFill>
                <a:srgbClr val="555F73"/>
              </a:solidFill>
            </a:endParaRPr>
          </a:p>
        </p:txBody>
      </p:sp>
      <p:sp>
        <p:nvSpPr>
          <p:cNvPr id="23" name="Rectangle 22"/>
          <p:cNvSpPr/>
          <p:nvPr/>
        </p:nvSpPr>
        <p:spPr>
          <a:xfrm>
            <a:off x="3264408" y="1325880"/>
            <a:ext cx="2834640" cy="411480"/>
          </a:xfrm>
          <a:prstGeom prst="rect">
            <a:avLst/>
          </a:prstGeom>
          <a:solidFill>
            <a:srgbClr val="257A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3355848" y="1371600"/>
            <a:ext cx="2560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</a:rPr>
              <a:t>🛍️ 商品</a:t>
            </a:r>
            <a:endParaRPr sz="1200" b="1" i="0">
              <a:solidFill>
                <a:srgbClr val="FFFFFF"/>
              </a:solidFill>
            </a:endParaRPr>
          </a:p>
        </p:txBody>
      </p:sp>
      <p:sp>
        <p:nvSpPr>
          <p:cNvPr id="25" name="Rectangle 24"/>
          <p:cNvSpPr/>
          <p:nvPr/>
        </p:nvSpPr>
        <p:spPr>
          <a:xfrm>
            <a:off x="3264408" y="1737360"/>
            <a:ext cx="2834640" cy="749808"/>
          </a:xfrm>
          <a:prstGeom prst="rect">
            <a:avLst/>
          </a:prstGeom>
          <a:solidFill>
            <a:srgbClr val="FFFFFF"/>
          </a:solidFill>
          <a:ln w="3810">
            <a:solidFill>
              <a:srgbClr val="CBD9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3355848" y="1828800"/>
            <a:ext cx="502920" cy="237744"/>
          </a:xfrm>
          <a:prstGeom prst="rect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3355848" y="1810512"/>
            <a:ext cx="5029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</a:rPr>
              <a:t>GET</a:t>
            </a:r>
            <a:endParaRPr sz="900" b="1" i="0">
              <a:solidFill>
                <a:srgbClr val="FFFFFF"/>
              </a:solidFill>
            </a:endParaRPr>
          </a:p>
        </p:txBody>
      </p:sp>
      <p:sp>
        <p:nvSpPr>
          <p:cNvPr id="28" name="TextBox 27"/>
          <p:cNvSpPr txBox="1"/>
          <p:nvPr/>
        </p:nvSpPr>
        <p:spPr>
          <a:xfrm>
            <a:off x="3922776" y="1773936"/>
            <a:ext cx="2011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1A3C6E"/>
                </a:solidFill>
              </a:rPr>
              <a:t>/goods/list</a:t>
            </a:r>
            <a:endParaRPr sz="1000" b="1" i="0">
              <a:solidFill>
                <a:srgbClr val="1A3C6E"/>
              </a:solidFill>
            </a:endParaRPr>
          </a:p>
        </p:txBody>
      </p:sp>
      <p:sp>
        <p:nvSpPr>
          <p:cNvPr id="29" name="TextBox 28"/>
          <p:cNvSpPr txBox="1"/>
          <p:nvPr/>
        </p:nvSpPr>
        <p:spPr>
          <a:xfrm>
            <a:off x="3922776" y="2084832"/>
            <a:ext cx="2011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555F73"/>
                </a:solidFill>
              </a:rPr>
              <a:t>商品列表</a:t>
            </a:r>
            <a:endParaRPr sz="1000" b="0" i="0">
              <a:solidFill>
                <a:srgbClr val="555F73"/>
              </a:solidFill>
            </a:endParaRPr>
          </a:p>
        </p:txBody>
      </p:sp>
      <p:sp>
        <p:nvSpPr>
          <p:cNvPr id="30" name="Rectangle 29"/>
          <p:cNvSpPr/>
          <p:nvPr/>
        </p:nvSpPr>
        <p:spPr>
          <a:xfrm>
            <a:off x="3264408" y="2542032"/>
            <a:ext cx="2834640" cy="749808"/>
          </a:xfrm>
          <a:prstGeom prst="rect">
            <a:avLst/>
          </a:prstGeom>
          <a:solidFill>
            <a:srgbClr val="EAF3FB"/>
          </a:solidFill>
          <a:ln w="3810">
            <a:solidFill>
              <a:srgbClr val="CBD9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3355848" y="2633472"/>
            <a:ext cx="502920" cy="237744"/>
          </a:xfrm>
          <a:prstGeom prst="rect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3355848" y="2615184"/>
            <a:ext cx="5029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</a:rPr>
              <a:t>GET</a:t>
            </a:r>
            <a:endParaRPr sz="900" b="1" i="0">
              <a:solidFill>
                <a:srgbClr val="FFFFFF"/>
              </a:solidFill>
            </a:endParaRPr>
          </a:p>
        </p:txBody>
      </p:sp>
      <p:sp>
        <p:nvSpPr>
          <p:cNvPr id="33" name="TextBox 32"/>
          <p:cNvSpPr txBox="1"/>
          <p:nvPr/>
        </p:nvSpPr>
        <p:spPr>
          <a:xfrm>
            <a:off x="3922776" y="2578608"/>
            <a:ext cx="2011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1A3C6E"/>
                </a:solidFill>
              </a:rPr>
              <a:t>/goods/detail</a:t>
            </a:r>
            <a:endParaRPr sz="1000" b="1" i="0">
              <a:solidFill>
                <a:srgbClr val="1A3C6E"/>
              </a:solidFill>
            </a:endParaRPr>
          </a:p>
        </p:txBody>
      </p:sp>
      <p:sp>
        <p:nvSpPr>
          <p:cNvPr id="34" name="TextBox 33"/>
          <p:cNvSpPr txBox="1"/>
          <p:nvPr/>
        </p:nvSpPr>
        <p:spPr>
          <a:xfrm>
            <a:off x="3922776" y="2889504"/>
            <a:ext cx="2011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555F73"/>
                </a:solidFill>
              </a:rPr>
              <a:t>商品详情</a:t>
            </a:r>
            <a:endParaRPr sz="1000" b="0" i="0">
              <a:solidFill>
                <a:srgbClr val="555F73"/>
              </a:solidFill>
            </a:endParaRPr>
          </a:p>
        </p:txBody>
      </p:sp>
      <p:sp>
        <p:nvSpPr>
          <p:cNvPr id="35" name="Rectangle 34"/>
          <p:cNvSpPr/>
          <p:nvPr/>
        </p:nvSpPr>
        <p:spPr>
          <a:xfrm>
            <a:off x="3264408" y="3346704"/>
            <a:ext cx="2834640" cy="749808"/>
          </a:xfrm>
          <a:prstGeom prst="rect">
            <a:avLst/>
          </a:prstGeom>
          <a:solidFill>
            <a:srgbClr val="FFFFFF"/>
          </a:solidFill>
          <a:ln w="3810">
            <a:solidFill>
              <a:srgbClr val="CBD9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3355848" y="3438144"/>
            <a:ext cx="502920" cy="237744"/>
          </a:xfrm>
          <a:prstGeom prst="rect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3355848" y="3419856"/>
            <a:ext cx="5029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</a:rPr>
              <a:t>GET</a:t>
            </a:r>
            <a:endParaRPr sz="900" b="1" i="0">
              <a:solidFill>
                <a:srgbClr val="FFFFFF"/>
              </a:solidFill>
            </a:endParaRPr>
          </a:p>
        </p:txBody>
      </p:sp>
      <p:sp>
        <p:nvSpPr>
          <p:cNvPr id="38" name="TextBox 37"/>
          <p:cNvSpPr txBox="1"/>
          <p:nvPr/>
        </p:nvSpPr>
        <p:spPr>
          <a:xfrm>
            <a:off x="3922776" y="3383280"/>
            <a:ext cx="2011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1A3C6E"/>
                </a:solidFill>
              </a:rPr>
              <a:t>/goods/hot</a:t>
            </a:r>
            <a:endParaRPr sz="1000" b="1" i="0">
              <a:solidFill>
                <a:srgbClr val="1A3C6E"/>
              </a:solidFill>
            </a:endParaRPr>
          </a:p>
        </p:txBody>
      </p:sp>
      <p:sp>
        <p:nvSpPr>
          <p:cNvPr id="39" name="TextBox 38"/>
          <p:cNvSpPr txBox="1"/>
          <p:nvPr/>
        </p:nvSpPr>
        <p:spPr>
          <a:xfrm>
            <a:off x="3922776" y="3694176"/>
            <a:ext cx="2011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555F73"/>
                </a:solidFill>
              </a:rPr>
              <a:t>热门</a:t>
            </a:r>
            <a:endParaRPr sz="1000" b="0" i="0">
              <a:solidFill>
                <a:srgbClr val="555F73"/>
              </a:solidFill>
            </a:endParaRPr>
          </a:p>
        </p:txBody>
      </p:sp>
      <p:sp>
        <p:nvSpPr>
          <p:cNvPr id="40" name="Rectangle 39"/>
          <p:cNvSpPr/>
          <p:nvPr/>
        </p:nvSpPr>
        <p:spPr>
          <a:xfrm>
            <a:off x="3264408" y="4151376"/>
            <a:ext cx="2834640" cy="749808"/>
          </a:xfrm>
          <a:prstGeom prst="rect">
            <a:avLst/>
          </a:prstGeom>
          <a:solidFill>
            <a:srgbClr val="EAF3FB"/>
          </a:solidFill>
          <a:ln w="3810">
            <a:solidFill>
              <a:srgbClr val="CBD9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3355848" y="4242816"/>
            <a:ext cx="502920" cy="237744"/>
          </a:xfrm>
          <a:prstGeom prst="rect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3355848" y="4224528"/>
            <a:ext cx="5029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</a:rPr>
              <a:t>GET</a:t>
            </a:r>
            <a:endParaRPr sz="900" b="1" i="0">
              <a:solidFill>
                <a:srgbClr val="FFFFFF"/>
              </a:solidFill>
            </a:endParaRPr>
          </a:p>
        </p:txBody>
      </p:sp>
      <p:sp>
        <p:nvSpPr>
          <p:cNvPr id="43" name="TextBox 42"/>
          <p:cNvSpPr txBox="1"/>
          <p:nvPr/>
        </p:nvSpPr>
        <p:spPr>
          <a:xfrm>
            <a:off x="3922776" y="4187952"/>
            <a:ext cx="2011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1A3C6E"/>
                </a:solidFill>
              </a:rPr>
              <a:t>/goods/search</a:t>
            </a:r>
            <a:endParaRPr sz="1000" b="1" i="0">
              <a:solidFill>
                <a:srgbClr val="1A3C6E"/>
              </a:solidFill>
            </a:endParaRPr>
          </a:p>
        </p:txBody>
      </p:sp>
      <p:sp>
        <p:nvSpPr>
          <p:cNvPr id="44" name="TextBox 43"/>
          <p:cNvSpPr txBox="1"/>
          <p:nvPr/>
        </p:nvSpPr>
        <p:spPr>
          <a:xfrm>
            <a:off x="3922776" y="4498848"/>
            <a:ext cx="2011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555F73"/>
                </a:solidFill>
              </a:rPr>
              <a:t>搜索</a:t>
            </a:r>
            <a:endParaRPr sz="1000" b="0" i="0">
              <a:solidFill>
                <a:srgbClr val="555F73"/>
              </a:solidFill>
            </a:endParaRPr>
          </a:p>
        </p:txBody>
      </p:sp>
      <p:sp>
        <p:nvSpPr>
          <p:cNvPr id="45" name="Rectangle 44"/>
          <p:cNvSpPr/>
          <p:nvPr/>
        </p:nvSpPr>
        <p:spPr>
          <a:xfrm>
            <a:off x="6208776" y="1325880"/>
            <a:ext cx="2834640" cy="411480"/>
          </a:xfrm>
          <a:prstGeom prst="rect">
            <a:avLst/>
          </a:prstGeom>
          <a:solidFill>
            <a:srgbClr val="E67E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6300216" y="1371600"/>
            <a:ext cx="2560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</a:rPr>
              <a:t>🛒 购物车</a:t>
            </a:r>
            <a:endParaRPr sz="1200" b="1" i="0">
              <a:solidFill>
                <a:srgbClr val="FFFFFF"/>
              </a:solidFill>
            </a:endParaRPr>
          </a:p>
        </p:txBody>
      </p:sp>
      <p:sp>
        <p:nvSpPr>
          <p:cNvPr id="47" name="Rectangle 46"/>
          <p:cNvSpPr/>
          <p:nvPr/>
        </p:nvSpPr>
        <p:spPr>
          <a:xfrm>
            <a:off x="6208776" y="1737360"/>
            <a:ext cx="2834640" cy="749808"/>
          </a:xfrm>
          <a:prstGeom prst="rect">
            <a:avLst/>
          </a:prstGeom>
          <a:solidFill>
            <a:srgbClr val="FFFFFF"/>
          </a:solidFill>
          <a:ln w="3810">
            <a:solidFill>
              <a:srgbClr val="CBD9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Rectangle 47"/>
          <p:cNvSpPr/>
          <p:nvPr/>
        </p:nvSpPr>
        <p:spPr>
          <a:xfrm>
            <a:off x="6300216" y="1828800"/>
            <a:ext cx="502920" cy="237744"/>
          </a:xfrm>
          <a:prstGeom prst="rect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6300216" y="1810512"/>
            <a:ext cx="5029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</a:rPr>
              <a:t>GET</a:t>
            </a:r>
            <a:endParaRPr sz="900" b="1" i="0">
              <a:solidFill>
                <a:srgbClr val="FFFFFF"/>
              </a:solidFill>
            </a:endParaRPr>
          </a:p>
        </p:txBody>
      </p:sp>
      <p:sp>
        <p:nvSpPr>
          <p:cNvPr id="50" name="TextBox 49"/>
          <p:cNvSpPr txBox="1"/>
          <p:nvPr/>
        </p:nvSpPr>
        <p:spPr>
          <a:xfrm>
            <a:off x="6867144" y="1773936"/>
            <a:ext cx="2011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1A3C6E"/>
                </a:solidFill>
              </a:rPr>
              <a:t>/cart/index</a:t>
            </a:r>
            <a:endParaRPr sz="1000" b="1" i="0">
              <a:solidFill>
                <a:srgbClr val="1A3C6E"/>
              </a:solidFill>
            </a:endParaRPr>
          </a:p>
        </p:txBody>
      </p:sp>
      <p:sp>
        <p:nvSpPr>
          <p:cNvPr id="51" name="TextBox 50"/>
          <p:cNvSpPr txBox="1"/>
          <p:nvPr/>
        </p:nvSpPr>
        <p:spPr>
          <a:xfrm>
            <a:off x="6867144" y="2084832"/>
            <a:ext cx="2011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555F73"/>
                </a:solidFill>
              </a:rPr>
              <a:t>获取</a:t>
            </a:r>
            <a:endParaRPr sz="1000" b="0" i="0">
              <a:solidFill>
                <a:srgbClr val="555F73"/>
              </a:solidFill>
            </a:endParaRPr>
          </a:p>
        </p:txBody>
      </p:sp>
      <p:sp>
        <p:nvSpPr>
          <p:cNvPr id="52" name="Rectangle 51"/>
          <p:cNvSpPr/>
          <p:nvPr/>
        </p:nvSpPr>
        <p:spPr>
          <a:xfrm>
            <a:off x="6208776" y="2542032"/>
            <a:ext cx="2834640" cy="749808"/>
          </a:xfrm>
          <a:prstGeom prst="rect">
            <a:avLst/>
          </a:prstGeom>
          <a:solidFill>
            <a:srgbClr val="EAF3FB"/>
          </a:solidFill>
          <a:ln w="3810">
            <a:solidFill>
              <a:srgbClr val="CBD9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Rectangle 52"/>
          <p:cNvSpPr/>
          <p:nvPr/>
        </p:nvSpPr>
        <p:spPr>
          <a:xfrm>
            <a:off x="6300216" y="2633472"/>
            <a:ext cx="502920" cy="237744"/>
          </a:xfrm>
          <a:prstGeom prst="rect">
            <a:avLst/>
          </a:prstGeom>
          <a:solidFill>
            <a:srgbClr val="E67E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6300216" y="2615184"/>
            <a:ext cx="5029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</a:rPr>
              <a:t>POST</a:t>
            </a:r>
            <a:endParaRPr sz="900" b="1" i="0">
              <a:solidFill>
                <a:srgbClr val="FFFFFF"/>
              </a:solidFill>
            </a:endParaRPr>
          </a:p>
        </p:txBody>
      </p:sp>
      <p:sp>
        <p:nvSpPr>
          <p:cNvPr id="55" name="TextBox 54"/>
          <p:cNvSpPr txBox="1"/>
          <p:nvPr/>
        </p:nvSpPr>
        <p:spPr>
          <a:xfrm>
            <a:off x="6867144" y="2578608"/>
            <a:ext cx="2011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1A3C6E"/>
                </a:solidFill>
              </a:rPr>
              <a:t>/cart/add</a:t>
            </a:r>
            <a:endParaRPr sz="1000" b="1" i="0">
              <a:solidFill>
                <a:srgbClr val="1A3C6E"/>
              </a:solidFill>
            </a:endParaRPr>
          </a:p>
        </p:txBody>
      </p:sp>
      <p:sp>
        <p:nvSpPr>
          <p:cNvPr id="56" name="TextBox 55"/>
          <p:cNvSpPr txBox="1"/>
          <p:nvPr/>
        </p:nvSpPr>
        <p:spPr>
          <a:xfrm>
            <a:off x="6867144" y="2889504"/>
            <a:ext cx="2011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555F73"/>
                </a:solidFill>
              </a:rPr>
              <a:t>添加</a:t>
            </a:r>
            <a:endParaRPr sz="1000" b="0" i="0">
              <a:solidFill>
                <a:srgbClr val="555F73"/>
              </a:solidFill>
            </a:endParaRPr>
          </a:p>
        </p:txBody>
      </p:sp>
      <p:sp>
        <p:nvSpPr>
          <p:cNvPr id="57" name="Rectangle 56"/>
          <p:cNvSpPr/>
          <p:nvPr/>
        </p:nvSpPr>
        <p:spPr>
          <a:xfrm>
            <a:off x="6208776" y="3346704"/>
            <a:ext cx="2834640" cy="749808"/>
          </a:xfrm>
          <a:prstGeom prst="rect">
            <a:avLst/>
          </a:prstGeom>
          <a:solidFill>
            <a:srgbClr val="FFFFFF"/>
          </a:solidFill>
          <a:ln w="3810">
            <a:solidFill>
              <a:srgbClr val="CBD9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Rectangle 57"/>
          <p:cNvSpPr/>
          <p:nvPr/>
        </p:nvSpPr>
        <p:spPr>
          <a:xfrm>
            <a:off x="6300216" y="3438144"/>
            <a:ext cx="502920" cy="237744"/>
          </a:xfrm>
          <a:prstGeom prst="rect">
            <a:avLst/>
          </a:prstGeom>
          <a:solidFill>
            <a:srgbClr val="E67E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6300216" y="3419856"/>
            <a:ext cx="5029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</a:rPr>
              <a:t>POST</a:t>
            </a:r>
            <a:endParaRPr sz="900" b="1" i="0">
              <a:solidFill>
                <a:srgbClr val="FFFFFF"/>
              </a:solidFill>
            </a:endParaRPr>
          </a:p>
        </p:txBody>
      </p:sp>
      <p:sp>
        <p:nvSpPr>
          <p:cNvPr id="60" name="TextBox 59"/>
          <p:cNvSpPr txBox="1"/>
          <p:nvPr/>
        </p:nvSpPr>
        <p:spPr>
          <a:xfrm>
            <a:off x="6867144" y="3383280"/>
            <a:ext cx="2011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1A3C6E"/>
                </a:solidFill>
              </a:rPr>
              <a:t>/cart/update</a:t>
            </a:r>
            <a:endParaRPr sz="1000" b="1" i="0">
              <a:solidFill>
                <a:srgbClr val="1A3C6E"/>
              </a:solidFill>
            </a:endParaRPr>
          </a:p>
        </p:txBody>
      </p:sp>
      <p:sp>
        <p:nvSpPr>
          <p:cNvPr id="61" name="TextBox 60"/>
          <p:cNvSpPr txBox="1"/>
          <p:nvPr/>
        </p:nvSpPr>
        <p:spPr>
          <a:xfrm>
            <a:off x="6867144" y="3694176"/>
            <a:ext cx="2011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555F73"/>
                </a:solidFill>
              </a:rPr>
              <a:t>更新</a:t>
            </a:r>
            <a:endParaRPr sz="1000" b="0" i="0">
              <a:solidFill>
                <a:srgbClr val="555F73"/>
              </a:solidFill>
            </a:endParaRPr>
          </a:p>
        </p:txBody>
      </p:sp>
      <p:sp>
        <p:nvSpPr>
          <p:cNvPr id="62" name="Rectangle 61"/>
          <p:cNvSpPr/>
          <p:nvPr/>
        </p:nvSpPr>
        <p:spPr>
          <a:xfrm>
            <a:off x="6208776" y="4151376"/>
            <a:ext cx="2834640" cy="749808"/>
          </a:xfrm>
          <a:prstGeom prst="rect">
            <a:avLst/>
          </a:prstGeom>
          <a:solidFill>
            <a:srgbClr val="EAF3FB"/>
          </a:solidFill>
          <a:ln w="3810">
            <a:solidFill>
              <a:srgbClr val="CBD9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Rectangle 62"/>
          <p:cNvSpPr/>
          <p:nvPr/>
        </p:nvSpPr>
        <p:spPr>
          <a:xfrm>
            <a:off x="6300216" y="4242816"/>
            <a:ext cx="502920" cy="237744"/>
          </a:xfrm>
          <a:prstGeom prst="rect">
            <a:avLst/>
          </a:prstGeom>
          <a:solidFill>
            <a:srgbClr val="E67E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TextBox 63"/>
          <p:cNvSpPr txBox="1"/>
          <p:nvPr/>
        </p:nvSpPr>
        <p:spPr>
          <a:xfrm>
            <a:off x="6300216" y="4224528"/>
            <a:ext cx="5029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</a:rPr>
              <a:t>POST</a:t>
            </a:r>
            <a:endParaRPr sz="900" b="1" i="0">
              <a:solidFill>
                <a:srgbClr val="FFFFFF"/>
              </a:solidFill>
            </a:endParaRPr>
          </a:p>
        </p:txBody>
      </p:sp>
      <p:sp>
        <p:nvSpPr>
          <p:cNvPr id="65" name="TextBox 64"/>
          <p:cNvSpPr txBox="1"/>
          <p:nvPr/>
        </p:nvSpPr>
        <p:spPr>
          <a:xfrm>
            <a:off x="6867144" y="4187952"/>
            <a:ext cx="2011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1A3C6E"/>
                </a:solidFill>
              </a:rPr>
              <a:t>/cart/delete</a:t>
            </a:r>
            <a:endParaRPr sz="1000" b="1" i="0">
              <a:solidFill>
                <a:srgbClr val="1A3C6E"/>
              </a:solidFill>
            </a:endParaRPr>
          </a:p>
        </p:txBody>
      </p:sp>
      <p:sp>
        <p:nvSpPr>
          <p:cNvPr id="66" name="TextBox 65"/>
          <p:cNvSpPr txBox="1"/>
          <p:nvPr/>
        </p:nvSpPr>
        <p:spPr>
          <a:xfrm>
            <a:off x="6867144" y="4498848"/>
            <a:ext cx="2011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555F73"/>
                </a:solidFill>
              </a:rPr>
              <a:t>删除</a:t>
            </a:r>
            <a:endParaRPr sz="1000" b="0" i="0">
              <a:solidFill>
                <a:srgbClr val="555F73"/>
              </a:solidFill>
            </a:endParaRPr>
          </a:p>
        </p:txBody>
      </p:sp>
      <p:sp>
        <p:nvSpPr>
          <p:cNvPr id="67" name="Rectangle 66"/>
          <p:cNvSpPr/>
          <p:nvPr/>
        </p:nvSpPr>
        <p:spPr>
          <a:xfrm>
            <a:off x="6208776" y="4956048"/>
            <a:ext cx="2834640" cy="749808"/>
          </a:xfrm>
          <a:prstGeom prst="rect">
            <a:avLst/>
          </a:prstGeom>
          <a:solidFill>
            <a:srgbClr val="FFFFFF"/>
          </a:solidFill>
          <a:ln w="3810">
            <a:solidFill>
              <a:srgbClr val="CBD9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Rectangle 67"/>
          <p:cNvSpPr/>
          <p:nvPr/>
        </p:nvSpPr>
        <p:spPr>
          <a:xfrm>
            <a:off x="6300216" y="5047488"/>
            <a:ext cx="502920" cy="237744"/>
          </a:xfrm>
          <a:prstGeom prst="rect">
            <a:avLst/>
          </a:prstGeom>
          <a:solidFill>
            <a:srgbClr val="E67E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TextBox 68"/>
          <p:cNvSpPr txBox="1"/>
          <p:nvPr/>
        </p:nvSpPr>
        <p:spPr>
          <a:xfrm>
            <a:off x="6300216" y="5029200"/>
            <a:ext cx="5029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</a:rPr>
              <a:t>POST</a:t>
            </a:r>
            <a:endParaRPr sz="900" b="1" i="0">
              <a:solidFill>
                <a:srgbClr val="FFFFFF"/>
              </a:solidFill>
            </a:endParaRPr>
          </a:p>
        </p:txBody>
      </p:sp>
      <p:sp>
        <p:nvSpPr>
          <p:cNvPr id="70" name="TextBox 69"/>
          <p:cNvSpPr txBox="1"/>
          <p:nvPr/>
        </p:nvSpPr>
        <p:spPr>
          <a:xfrm>
            <a:off x="6867144" y="4992624"/>
            <a:ext cx="2011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1A3C6E"/>
                </a:solidFill>
              </a:rPr>
              <a:t>/cart/clear</a:t>
            </a:r>
            <a:endParaRPr sz="1000" b="1" i="0">
              <a:solidFill>
                <a:srgbClr val="1A3C6E"/>
              </a:solidFill>
            </a:endParaRPr>
          </a:p>
        </p:txBody>
      </p:sp>
      <p:sp>
        <p:nvSpPr>
          <p:cNvPr id="71" name="TextBox 70"/>
          <p:cNvSpPr txBox="1"/>
          <p:nvPr/>
        </p:nvSpPr>
        <p:spPr>
          <a:xfrm>
            <a:off x="6867144" y="5303520"/>
            <a:ext cx="2011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555F73"/>
                </a:solidFill>
              </a:rPr>
              <a:t>清空</a:t>
            </a:r>
            <a:endParaRPr sz="1000" b="0" i="0">
              <a:solidFill>
                <a:srgbClr val="555F73"/>
              </a:solidFill>
            </a:endParaRPr>
          </a:p>
        </p:txBody>
      </p:sp>
      <p:sp>
        <p:nvSpPr>
          <p:cNvPr id="72" name="Rectangle 71"/>
          <p:cNvSpPr/>
          <p:nvPr/>
        </p:nvSpPr>
        <p:spPr>
          <a:xfrm>
            <a:off x="6208776" y="5760720"/>
            <a:ext cx="2834640" cy="749808"/>
          </a:xfrm>
          <a:prstGeom prst="rect">
            <a:avLst/>
          </a:prstGeom>
          <a:solidFill>
            <a:srgbClr val="EAF3FB"/>
          </a:solidFill>
          <a:ln w="3810">
            <a:solidFill>
              <a:srgbClr val="CBD9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Rectangle 72"/>
          <p:cNvSpPr/>
          <p:nvPr/>
        </p:nvSpPr>
        <p:spPr>
          <a:xfrm>
            <a:off x="6300216" y="5852160"/>
            <a:ext cx="502920" cy="237744"/>
          </a:xfrm>
          <a:prstGeom prst="rect">
            <a:avLst/>
          </a:prstGeom>
          <a:solidFill>
            <a:srgbClr val="E67E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TextBox 73"/>
          <p:cNvSpPr txBox="1"/>
          <p:nvPr/>
        </p:nvSpPr>
        <p:spPr>
          <a:xfrm>
            <a:off x="6300216" y="5833872"/>
            <a:ext cx="5029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</a:rPr>
              <a:t>POST</a:t>
            </a:r>
            <a:endParaRPr sz="900" b="1" i="0">
              <a:solidFill>
                <a:srgbClr val="FFFFFF"/>
              </a:solidFill>
            </a:endParaRPr>
          </a:p>
        </p:txBody>
      </p:sp>
      <p:sp>
        <p:nvSpPr>
          <p:cNvPr id="75" name="TextBox 74"/>
          <p:cNvSpPr txBox="1"/>
          <p:nvPr/>
        </p:nvSpPr>
        <p:spPr>
          <a:xfrm>
            <a:off x="6867144" y="5797296"/>
            <a:ext cx="2011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1A3C6E"/>
                </a:solidFill>
              </a:rPr>
              <a:t>/cart/checkout</a:t>
            </a:r>
            <a:endParaRPr sz="1000" b="1" i="0">
              <a:solidFill>
                <a:srgbClr val="1A3C6E"/>
              </a:solidFill>
            </a:endParaRPr>
          </a:p>
        </p:txBody>
      </p:sp>
      <p:sp>
        <p:nvSpPr>
          <p:cNvPr id="76" name="TextBox 75"/>
          <p:cNvSpPr txBox="1"/>
          <p:nvPr/>
        </p:nvSpPr>
        <p:spPr>
          <a:xfrm>
            <a:off x="6867144" y="6108192"/>
            <a:ext cx="2011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555F73"/>
                </a:solidFill>
              </a:rPr>
              <a:t>结算</a:t>
            </a:r>
            <a:endParaRPr sz="1000" b="0" i="0">
              <a:solidFill>
                <a:srgbClr val="555F73"/>
              </a:solidFill>
            </a:endParaRPr>
          </a:p>
        </p:txBody>
      </p:sp>
      <p:sp>
        <p:nvSpPr>
          <p:cNvPr id="77" name="Rectangle 76"/>
          <p:cNvSpPr/>
          <p:nvPr/>
        </p:nvSpPr>
        <p:spPr>
          <a:xfrm>
            <a:off x="9153144" y="1325880"/>
            <a:ext cx="2834640" cy="411480"/>
          </a:xfrm>
          <a:prstGeom prst="rect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TextBox 77"/>
          <p:cNvSpPr txBox="1"/>
          <p:nvPr/>
        </p:nvSpPr>
        <p:spPr>
          <a:xfrm>
            <a:off x="9244584" y="1371600"/>
            <a:ext cx="2560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</a:rPr>
              <a:t>🔧 管理</a:t>
            </a:r>
            <a:endParaRPr sz="1200" b="1" i="0">
              <a:solidFill>
                <a:srgbClr val="FFFFFF"/>
              </a:solidFill>
            </a:endParaRPr>
          </a:p>
        </p:txBody>
      </p:sp>
      <p:sp>
        <p:nvSpPr>
          <p:cNvPr id="79" name="Rectangle 78"/>
          <p:cNvSpPr/>
          <p:nvPr/>
        </p:nvSpPr>
        <p:spPr>
          <a:xfrm>
            <a:off x="9153144" y="1737360"/>
            <a:ext cx="2834640" cy="749808"/>
          </a:xfrm>
          <a:prstGeom prst="rect">
            <a:avLst/>
          </a:prstGeom>
          <a:solidFill>
            <a:srgbClr val="FFFFFF"/>
          </a:solidFill>
          <a:ln w="3810">
            <a:solidFill>
              <a:srgbClr val="CBD9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Rectangle 79"/>
          <p:cNvSpPr/>
          <p:nvPr/>
        </p:nvSpPr>
        <p:spPr>
          <a:xfrm>
            <a:off x="9244584" y="1828800"/>
            <a:ext cx="502920" cy="237744"/>
          </a:xfrm>
          <a:prstGeom prst="rect">
            <a:avLst/>
          </a:prstGeom>
          <a:solidFill>
            <a:srgbClr val="E67E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TextBox 80"/>
          <p:cNvSpPr txBox="1"/>
          <p:nvPr/>
        </p:nvSpPr>
        <p:spPr>
          <a:xfrm>
            <a:off x="9244584" y="1810512"/>
            <a:ext cx="5029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</a:rPr>
              <a:t>POST</a:t>
            </a:r>
            <a:endParaRPr sz="900" b="1" i="0">
              <a:solidFill>
                <a:srgbClr val="FFFFFF"/>
              </a:solidFill>
            </a:endParaRPr>
          </a:p>
        </p:txBody>
      </p:sp>
      <p:sp>
        <p:nvSpPr>
          <p:cNvPr id="82" name="TextBox 81"/>
          <p:cNvSpPr txBox="1"/>
          <p:nvPr/>
        </p:nvSpPr>
        <p:spPr>
          <a:xfrm>
            <a:off x="9811512" y="1773936"/>
            <a:ext cx="2011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1A3C6E"/>
                </a:solidFill>
              </a:rPr>
              <a:t>/user/add_goods</a:t>
            </a:r>
            <a:endParaRPr sz="1000" b="1" i="0">
              <a:solidFill>
                <a:srgbClr val="1A3C6E"/>
              </a:solidFill>
            </a:endParaRPr>
          </a:p>
        </p:txBody>
      </p:sp>
      <p:sp>
        <p:nvSpPr>
          <p:cNvPr id="83" name="TextBox 82"/>
          <p:cNvSpPr txBox="1"/>
          <p:nvPr/>
        </p:nvSpPr>
        <p:spPr>
          <a:xfrm>
            <a:off x="9811512" y="2084832"/>
            <a:ext cx="2011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555F73"/>
                </a:solidFill>
              </a:rPr>
              <a:t>上架</a:t>
            </a:r>
            <a:endParaRPr sz="1000" b="0" i="0">
              <a:solidFill>
                <a:srgbClr val="555F73"/>
              </a:solidFill>
            </a:endParaRPr>
          </a:p>
        </p:txBody>
      </p:sp>
      <p:sp>
        <p:nvSpPr>
          <p:cNvPr id="84" name="Rectangle 83"/>
          <p:cNvSpPr/>
          <p:nvPr/>
        </p:nvSpPr>
        <p:spPr>
          <a:xfrm>
            <a:off x="9153144" y="2542032"/>
            <a:ext cx="2834640" cy="749808"/>
          </a:xfrm>
          <a:prstGeom prst="rect">
            <a:avLst/>
          </a:prstGeom>
          <a:solidFill>
            <a:srgbClr val="EAF3FB"/>
          </a:solidFill>
          <a:ln w="3810">
            <a:solidFill>
              <a:srgbClr val="CBD9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5" name="Rectangle 84"/>
          <p:cNvSpPr/>
          <p:nvPr/>
        </p:nvSpPr>
        <p:spPr>
          <a:xfrm>
            <a:off x="9244584" y="2633472"/>
            <a:ext cx="502920" cy="237744"/>
          </a:xfrm>
          <a:prstGeom prst="rect">
            <a:avLst/>
          </a:prstGeom>
          <a:solidFill>
            <a:srgbClr val="E67E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6" name="TextBox 85"/>
          <p:cNvSpPr txBox="1"/>
          <p:nvPr/>
        </p:nvSpPr>
        <p:spPr>
          <a:xfrm>
            <a:off x="9244584" y="2615184"/>
            <a:ext cx="5029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</a:rPr>
              <a:t>POST</a:t>
            </a:r>
            <a:endParaRPr sz="900" b="1" i="0">
              <a:solidFill>
                <a:srgbClr val="FFFFFF"/>
              </a:solidFill>
            </a:endParaRPr>
          </a:p>
        </p:txBody>
      </p:sp>
      <p:sp>
        <p:nvSpPr>
          <p:cNvPr id="87" name="TextBox 86"/>
          <p:cNvSpPr txBox="1"/>
          <p:nvPr/>
        </p:nvSpPr>
        <p:spPr>
          <a:xfrm>
            <a:off x="9811512" y="2578608"/>
            <a:ext cx="2011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1A3C6E"/>
                </a:solidFill>
              </a:rPr>
              <a:t>/user/check_goods</a:t>
            </a:r>
            <a:endParaRPr sz="1000" b="1" i="0">
              <a:solidFill>
                <a:srgbClr val="1A3C6E"/>
              </a:solidFill>
            </a:endParaRPr>
          </a:p>
        </p:txBody>
      </p:sp>
      <p:sp>
        <p:nvSpPr>
          <p:cNvPr id="88" name="TextBox 87"/>
          <p:cNvSpPr txBox="1"/>
          <p:nvPr/>
        </p:nvSpPr>
        <p:spPr>
          <a:xfrm>
            <a:off x="9811512" y="2889504"/>
            <a:ext cx="2011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555F73"/>
                </a:solidFill>
              </a:rPr>
              <a:t>审核</a:t>
            </a:r>
            <a:endParaRPr sz="1000" b="0" i="0">
              <a:solidFill>
                <a:srgbClr val="555F73"/>
              </a:solidFill>
            </a:endParaRPr>
          </a:p>
        </p:txBody>
      </p:sp>
      <p:sp>
        <p:nvSpPr>
          <p:cNvPr id="89" name="Rectangle 88"/>
          <p:cNvSpPr/>
          <p:nvPr/>
        </p:nvSpPr>
        <p:spPr>
          <a:xfrm>
            <a:off x="9153144" y="3346704"/>
            <a:ext cx="2834640" cy="749808"/>
          </a:xfrm>
          <a:prstGeom prst="rect">
            <a:avLst/>
          </a:prstGeom>
          <a:solidFill>
            <a:srgbClr val="FFFFFF"/>
          </a:solidFill>
          <a:ln w="3810">
            <a:solidFill>
              <a:srgbClr val="CBD9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0" name="Rectangle 89"/>
          <p:cNvSpPr/>
          <p:nvPr/>
        </p:nvSpPr>
        <p:spPr>
          <a:xfrm>
            <a:off x="9244584" y="3438144"/>
            <a:ext cx="502920" cy="237744"/>
          </a:xfrm>
          <a:prstGeom prst="rect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1" name="TextBox 90"/>
          <p:cNvSpPr txBox="1"/>
          <p:nvPr/>
        </p:nvSpPr>
        <p:spPr>
          <a:xfrm>
            <a:off x="9244584" y="3419856"/>
            <a:ext cx="5029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</a:rPr>
              <a:t>GET</a:t>
            </a:r>
            <a:endParaRPr sz="900" b="1" i="0">
              <a:solidFill>
                <a:srgbClr val="FFFFFF"/>
              </a:solidFill>
            </a:endParaRPr>
          </a:p>
        </p:txBody>
      </p:sp>
      <p:sp>
        <p:nvSpPr>
          <p:cNvPr id="92" name="TextBox 91"/>
          <p:cNvSpPr txBox="1"/>
          <p:nvPr/>
        </p:nvSpPr>
        <p:spPr>
          <a:xfrm>
            <a:off x="9811512" y="3383280"/>
            <a:ext cx="2011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1A3C6E"/>
                </a:solidFill>
              </a:rPr>
              <a:t>/user/pending_list</a:t>
            </a:r>
            <a:endParaRPr sz="1000" b="1" i="0">
              <a:solidFill>
                <a:srgbClr val="1A3C6E"/>
              </a:solidFill>
            </a:endParaRPr>
          </a:p>
        </p:txBody>
      </p:sp>
      <p:sp>
        <p:nvSpPr>
          <p:cNvPr id="93" name="TextBox 92"/>
          <p:cNvSpPr txBox="1"/>
          <p:nvPr/>
        </p:nvSpPr>
        <p:spPr>
          <a:xfrm>
            <a:off x="9811512" y="3694176"/>
            <a:ext cx="2011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555F73"/>
                </a:solidFill>
              </a:rPr>
              <a:t>待审列表</a:t>
            </a:r>
            <a:endParaRPr sz="1000" b="0" i="0">
              <a:solidFill>
                <a:srgbClr val="555F73"/>
              </a:solidFill>
            </a:endParaRPr>
          </a:p>
        </p:txBody>
      </p:sp>
      <p:sp>
        <p:nvSpPr>
          <p:cNvPr id="94" name="Rectangle 93"/>
          <p:cNvSpPr/>
          <p:nvPr/>
        </p:nvSpPr>
        <p:spPr>
          <a:xfrm>
            <a:off x="9153144" y="4151376"/>
            <a:ext cx="2834640" cy="749808"/>
          </a:xfrm>
          <a:prstGeom prst="rect">
            <a:avLst/>
          </a:prstGeom>
          <a:solidFill>
            <a:srgbClr val="EAF3FB"/>
          </a:solidFill>
          <a:ln w="3810">
            <a:solidFill>
              <a:srgbClr val="CBD9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5" name="Rectangle 94"/>
          <p:cNvSpPr/>
          <p:nvPr/>
        </p:nvSpPr>
        <p:spPr>
          <a:xfrm>
            <a:off x="9244584" y="4242816"/>
            <a:ext cx="502920" cy="237744"/>
          </a:xfrm>
          <a:prstGeom prst="rect">
            <a:avLst/>
          </a:prstGeom>
          <a:solidFill>
            <a:srgbClr val="E67E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6" name="TextBox 95"/>
          <p:cNvSpPr txBox="1"/>
          <p:nvPr/>
        </p:nvSpPr>
        <p:spPr>
          <a:xfrm>
            <a:off x="9244584" y="4224528"/>
            <a:ext cx="5029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</a:rPr>
              <a:t>POST</a:t>
            </a:r>
            <a:endParaRPr sz="900" b="1" i="0">
              <a:solidFill>
                <a:srgbClr val="FFFFFF"/>
              </a:solidFill>
            </a:endParaRPr>
          </a:p>
        </p:txBody>
      </p:sp>
      <p:sp>
        <p:nvSpPr>
          <p:cNvPr id="97" name="TextBox 96"/>
          <p:cNvSpPr txBox="1"/>
          <p:nvPr/>
        </p:nvSpPr>
        <p:spPr>
          <a:xfrm>
            <a:off x="9811512" y="4187952"/>
            <a:ext cx="2011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1A3C6E"/>
                </a:solidFill>
              </a:rPr>
              <a:t>/goods/delete</a:t>
            </a:r>
            <a:endParaRPr sz="1000" b="1" i="0">
              <a:solidFill>
                <a:srgbClr val="1A3C6E"/>
              </a:solidFill>
            </a:endParaRPr>
          </a:p>
        </p:txBody>
      </p:sp>
      <p:sp>
        <p:nvSpPr>
          <p:cNvPr id="98" name="TextBox 97"/>
          <p:cNvSpPr txBox="1"/>
          <p:nvPr/>
        </p:nvSpPr>
        <p:spPr>
          <a:xfrm>
            <a:off x="9811512" y="4498848"/>
            <a:ext cx="2011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555F73"/>
                </a:solidFill>
              </a:rPr>
              <a:t>删除(管理员)</a:t>
            </a:r>
            <a:endParaRPr sz="1000" b="0" i="0">
              <a:solidFill>
                <a:srgbClr val="555F73"/>
              </a:solidFill>
            </a:endParaRPr>
          </a:p>
        </p:txBody>
      </p:sp>
      <p:sp>
        <p:nvSpPr>
          <p:cNvPr id="99" name="Rectangle 98"/>
          <p:cNvSpPr/>
          <p:nvPr/>
        </p:nvSpPr>
        <p:spPr>
          <a:xfrm>
            <a:off x="0" y="6675120"/>
            <a:ext cx="12188952" cy="182880"/>
          </a:xfrm>
          <a:prstGeom prst="rect">
            <a:avLst/>
          </a:prstGeom>
          <a:solidFill>
            <a:srgbClr val="257A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4F7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51560"/>
          </a:xfrm>
          <a:prstGeom prst="rect">
            <a:avLst/>
          </a:prstGeom>
          <a:solidFill>
            <a:srgbClr val="1A3C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11480" y="164592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</a:rPr>
              <a:t>数据库设计</a:t>
            </a:r>
            <a:endParaRPr sz="2600" b="1" i="0">
              <a:solidFill>
                <a:srgbClr val="FFFFFF"/>
              </a:solidFill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411480" y="694944"/>
            <a:ext cx="91440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B0C8E8"/>
                </a:solidFill>
              </a:rPr>
              <a:t>Database — 6 Core Tables, InnoDB Engine</a:t>
            </a:r>
            <a:endParaRPr sz="1400" b="0" i="0">
              <a:solidFill>
                <a:srgbClr val="B0C8E8"/>
              </a:solidFill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320040" y="1325880"/>
            <a:ext cx="3657600" cy="2423160"/>
          </a:xfrm>
          <a:prstGeom prst="rect">
            <a:avLst/>
          </a:prstGeom>
          <a:solidFill>
            <a:srgbClr val="FFFFFF"/>
          </a:solidFill>
          <a:ln w="6350">
            <a:solidFill>
              <a:srgbClr val="CBD9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320040" y="1325880"/>
            <a:ext cx="3657600" cy="457200"/>
          </a:xfrm>
          <a:prstGeom prst="rect">
            <a:avLst/>
          </a:prstGeom>
          <a:solidFill>
            <a:srgbClr val="1A3C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29768" y="1380744"/>
            <a:ext cx="34747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user 表</a:t>
            </a:r>
            <a:endParaRPr sz="1300" b="1" i="0">
              <a:solidFill>
                <a:srgbClr val="FFFFFF"/>
              </a:solidFill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502920" y="1856232"/>
            <a:ext cx="3291840" cy="2603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1E1E2E"/>
                </a:solidFill>
              </a:rPr>
              <a:t>• user_id PK</a:t>
            </a:r>
            <a:r>
              <a:rPr lang="zh-CN" sz="1100" b="1" i="0">
                <a:solidFill>
                  <a:srgbClr val="1E1E2E"/>
                </a:solidFill>
              </a:rPr>
              <a:t>（</a:t>
            </a:r>
            <a:r>
              <a:rPr lang="zh-CN" sz="1100" b="1" i="0">
                <a:solidFill>
                  <a:srgbClr val="1E1E2E"/>
                </a:solidFill>
              </a:rPr>
              <a:t>主键）</a:t>
            </a:r>
            <a:endParaRPr lang="zh-CN" sz="1100" b="1" i="0">
              <a:solidFill>
                <a:srgbClr val="1E1E2E"/>
              </a:solidFill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502920" y="2221992"/>
            <a:ext cx="32918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E1E2E"/>
                </a:solidFill>
              </a:rPr>
              <a:t>• username</a:t>
            </a:r>
            <a:endParaRPr sz="1100" b="0" i="0">
              <a:solidFill>
                <a:srgbClr val="1E1E2E"/>
              </a:solidFill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502920" y="2587752"/>
            <a:ext cx="32918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E1E2E"/>
                </a:solidFill>
              </a:rPr>
              <a:t>• password (hash)</a:t>
            </a:r>
            <a:endParaRPr sz="1100" b="0" i="0">
              <a:solidFill>
                <a:srgbClr val="1E1E2E"/>
              </a:solidFill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502920" y="2953512"/>
            <a:ext cx="32918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E1E2E"/>
                </a:solidFill>
              </a:rPr>
              <a:t>• phone</a:t>
            </a:r>
            <a:endParaRPr sz="1100" b="0" i="0">
              <a:solidFill>
                <a:srgbClr val="1E1E2E"/>
              </a:solidFill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502920" y="3319272"/>
            <a:ext cx="32918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E1E2E"/>
                </a:solidFill>
              </a:rPr>
              <a:t>• type (0用户/1管理)</a:t>
            </a:r>
            <a:endParaRPr sz="1100" b="0" i="0">
              <a:solidFill>
                <a:srgbClr val="1E1E2E"/>
              </a:solidFill>
            </a:endParaRPr>
          </a:p>
        </p:txBody>
      </p:sp>
      <p:sp>
        <p:nvSpPr>
          <p:cNvPr id="14" name="Rectangle 13"/>
          <p:cNvSpPr/>
          <p:nvPr/>
        </p:nvSpPr>
        <p:spPr>
          <a:xfrm>
            <a:off x="4233672" y="1325880"/>
            <a:ext cx="3657600" cy="2423160"/>
          </a:xfrm>
          <a:prstGeom prst="rect">
            <a:avLst/>
          </a:prstGeom>
          <a:solidFill>
            <a:srgbClr val="FFFFFF"/>
          </a:solidFill>
          <a:ln w="6350">
            <a:solidFill>
              <a:srgbClr val="CBD9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4233672" y="1325880"/>
            <a:ext cx="3657600" cy="457200"/>
          </a:xfrm>
          <a:prstGeom prst="rect">
            <a:avLst/>
          </a:prstGeom>
          <a:solidFill>
            <a:srgbClr val="257A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343400" y="1380744"/>
            <a:ext cx="34747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goods 表</a:t>
            </a:r>
            <a:endParaRPr sz="1300" b="1" i="0">
              <a:solidFill>
                <a:srgbClr val="FFFFFF"/>
              </a:solidFill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4416552" y="1856232"/>
            <a:ext cx="3291840" cy="42989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1E1E2E"/>
                </a:solidFill>
              </a:rPr>
              <a:t>• goods_id PK</a:t>
            </a:r>
            <a:r>
              <a:rPr lang="zh-CN" sz="1100" b="1">
                <a:solidFill>
                  <a:srgbClr val="1E1E2E"/>
                </a:solidFill>
                <a:sym typeface="+mn-ea"/>
              </a:rPr>
              <a:t>（主键）</a:t>
            </a:r>
            <a:endParaRPr lang="zh-CN" sz="1100" b="1" i="0">
              <a:solidFill>
                <a:srgbClr val="1E1E2E"/>
              </a:solidFill>
            </a:endParaRPr>
          </a:p>
          <a:p>
            <a:pPr algn="l"/>
            <a:endParaRPr sz="1100" b="1" i="0">
              <a:solidFill>
                <a:srgbClr val="1E1E2E"/>
              </a:solidFill>
            </a:endParaRPr>
          </a:p>
        </p:txBody>
      </p:sp>
      <p:sp>
        <p:nvSpPr>
          <p:cNvPr id="18" name="TextBox 17"/>
          <p:cNvSpPr txBox="1"/>
          <p:nvPr/>
        </p:nvSpPr>
        <p:spPr>
          <a:xfrm>
            <a:off x="4416552" y="2221992"/>
            <a:ext cx="32918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E1E2E"/>
                </a:solidFill>
              </a:rPr>
              <a:t>• goods_name / price</a:t>
            </a:r>
            <a:endParaRPr sz="1100" b="0" i="0">
              <a:solidFill>
                <a:srgbClr val="1E1E2E"/>
              </a:solidFill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4416552" y="2587752"/>
            <a:ext cx="32918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E1E2E"/>
                </a:solidFill>
              </a:rPr>
              <a:t>• stock 库存</a:t>
            </a:r>
            <a:endParaRPr sz="1100" b="0" i="0">
              <a:solidFill>
                <a:srgbClr val="1E1E2E"/>
              </a:solidFill>
            </a:endParaRPr>
          </a:p>
        </p:txBody>
      </p:sp>
      <p:sp>
        <p:nvSpPr>
          <p:cNvPr id="20" name="TextBox 19"/>
          <p:cNvSpPr txBox="1"/>
          <p:nvPr/>
        </p:nvSpPr>
        <p:spPr>
          <a:xfrm>
            <a:off x="4416552" y="2953512"/>
            <a:ext cx="32918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E1E2E"/>
                </a:solidFill>
              </a:rPr>
              <a:t>• status (0待审/1上架/2下架)</a:t>
            </a:r>
            <a:endParaRPr sz="1100" b="0" i="0">
              <a:solidFill>
                <a:srgbClr val="1E1E2E"/>
              </a:solidFill>
            </a:endParaRPr>
          </a:p>
        </p:txBody>
      </p:sp>
      <p:sp>
        <p:nvSpPr>
          <p:cNvPr id="21" name="TextBox 20"/>
          <p:cNvSpPr txBox="1"/>
          <p:nvPr/>
        </p:nvSpPr>
        <p:spPr>
          <a:xfrm>
            <a:off x="4416552" y="3319272"/>
            <a:ext cx="32918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E1E2E"/>
                </a:solidFill>
              </a:rPr>
              <a:t>• cat_id FK</a:t>
            </a:r>
            <a:endParaRPr sz="1100" b="0" i="0">
              <a:solidFill>
                <a:srgbClr val="1E1E2E"/>
              </a:solidFill>
            </a:endParaRPr>
          </a:p>
        </p:txBody>
      </p:sp>
      <p:sp>
        <p:nvSpPr>
          <p:cNvPr id="22" name="Rectangle 21"/>
          <p:cNvSpPr/>
          <p:nvPr/>
        </p:nvSpPr>
        <p:spPr>
          <a:xfrm>
            <a:off x="8147304" y="1325880"/>
            <a:ext cx="3657600" cy="2423160"/>
          </a:xfrm>
          <a:prstGeom prst="rect">
            <a:avLst/>
          </a:prstGeom>
          <a:solidFill>
            <a:srgbClr val="FFFFFF"/>
          </a:solidFill>
          <a:ln w="6350">
            <a:solidFill>
              <a:srgbClr val="CBD9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8147304" y="1325880"/>
            <a:ext cx="3657600" cy="457200"/>
          </a:xfrm>
          <a:prstGeom prst="rect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257032" y="1380744"/>
            <a:ext cx="34747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cart 表</a:t>
            </a:r>
            <a:endParaRPr sz="1300" b="1" i="0">
              <a:solidFill>
                <a:srgbClr val="FFFFFF"/>
              </a:solidFill>
            </a:endParaRPr>
          </a:p>
        </p:txBody>
      </p:sp>
      <p:sp>
        <p:nvSpPr>
          <p:cNvPr id="25" name="TextBox 24"/>
          <p:cNvSpPr txBox="1"/>
          <p:nvPr/>
        </p:nvSpPr>
        <p:spPr>
          <a:xfrm>
            <a:off x="8330184" y="1856232"/>
            <a:ext cx="3291840" cy="42989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1E1E2E"/>
                </a:solidFill>
              </a:rPr>
              <a:t>• cart_id PK</a:t>
            </a:r>
            <a:r>
              <a:rPr lang="zh-CN" sz="1100" b="1">
                <a:solidFill>
                  <a:srgbClr val="1E1E2E"/>
                </a:solidFill>
                <a:sym typeface="+mn-ea"/>
              </a:rPr>
              <a:t>（主键）</a:t>
            </a:r>
            <a:endParaRPr lang="zh-CN" sz="1100" b="1" i="0">
              <a:solidFill>
                <a:srgbClr val="1E1E2E"/>
              </a:solidFill>
            </a:endParaRPr>
          </a:p>
          <a:p>
            <a:pPr algn="l"/>
            <a:endParaRPr sz="1100" b="1" i="0">
              <a:solidFill>
                <a:srgbClr val="1E1E2E"/>
              </a:solidFill>
            </a:endParaRPr>
          </a:p>
        </p:txBody>
      </p:sp>
      <p:sp>
        <p:nvSpPr>
          <p:cNvPr id="26" name="TextBox 25"/>
          <p:cNvSpPr txBox="1"/>
          <p:nvPr/>
        </p:nvSpPr>
        <p:spPr>
          <a:xfrm>
            <a:off x="8330184" y="2221992"/>
            <a:ext cx="32918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E1E2E"/>
                </a:solidFill>
              </a:rPr>
              <a:t>• user_id FK</a:t>
            </a:r>
            <a:endParaRPr sz="1100" b="0" i="0">
              <a:solidFill>
                <a:srgbClr val="1E1E2E"/>
              </a:solidFill>
            </a:endParaRPr>
          </a:p>
        </p:txBody>
      </p:sp>
      <p:sp>
        <p:nvSpPr>
          <p:cNvPr id="27" name="TextBox 26"/>
          <p:cNvSpPr txBox="1"/>
          <p:nvPr/>
        </p:nvSpPr>
        <p:spPr>
          <a:xfrm>
            <a:off x="8330184" y="2587752"/>
            <a:ext cx="32918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E1E2E"/>
                </a:solidFill>
              </a:rPr>
              <a:t>• goods_id FK</a:t>
            </a:r>
            <a:endParaRPr sz="1100" b="0" i="0">
              <a:solidFill>
                <a:srgbClr val="1E1E2E"/>
              </a:solidFill>
            </a:endParaRPr>
          </a:p>
        </p:txBody>
      </p:sp>
      <p:sp>
        <p:nvSpPr>
          <p:cNvPr id="28" name="TextBox 27"/>
          <p:cNvSpPr txBox="1"/>
          <p:nvPr/>
        </p:nvSpPr>
        <p:spPr>
          <a:xfrm>
            <a:off x="8330184" y="2953512"/>
            <a:ext cx="32918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E1E2E"/>
                </a:solidFill>
              </a:rPr>
              <a:t>• goods_num 数量</a:t>
            </a:r>
            <a:endParaRPr sz="1100" b="0" i="0">
              <a:solidFill>
                <a:srgbClr val="1E1E2E"/>
              </a:solidFill>
            </a:endParaRPr>
          </a:p>
        </p:txBody>
      </p:sp>
      <p:sp>
        <p:nvSpPr>
          <p:cNvPr id="29" name="Rectangle 28"/>
          <p:cNvSpPr/>
          <p:nvPr/>
        </p:nvSpPr>
        <p:spPr>
          <a:xfrm>
            <a:off x="320040" y="4023360"/>
            <a:ext cx="3657600" cy="2423160"/>
          </a:xfrm>
          <a:prstGeom prst="rect">
            <a:avLst/>
          </a:prstGeom>
          <a:solidFill>
            <a:srgbClr val="FFFFFF"/>
          </a:solidFill>
          <a:ln w="6350">
            <a:solidFill>
              <a:srgbClr val="CBD9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320040" y="4023360"/>
            <a:ext cx="3657600" cy="457200"/>
          </a:xfrm>
          <a:prstGeom prst="rect">
            <a:avLst/>
          </a:prstGeom>
          <a:solidFill>
            <a:srgbClr val="E67E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429768" y="4078224"/>
            <a:ext cx="34747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order 表</a:t>
            </a:r>
            <a:endParaRPr sz="1300" b="1" i="0">
              <a:solidFill>
                <a:srgbClr val="FFFFFF"/>
              </a:solidFill>
            </a:endParaRPr>
          </a:p>
        </p:txBody>
      </p:sp>
      <p:sp>
        <p:nvSpPr>
          <p:cNvPr id="32" name="TextBox 31"/>
          <p:cNvSpPr txBox="1"/>
          <p:nvPr/>
        </p:nvSpPr>
        <p:spPr>
          <a:xfrm>
            <a:off x="502920" y="4553712"/>
            <a:ext cx="3291840" cy="42989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1E1E2E"/>
                </a:solidFill>
              </a:rPr>
              <a:t>• order_id PK</a:t>
            </a:r>
            <a:r>
              <a:rPr lang="zh-CN" sz="1100" b="1">
                <a:solidFill>
                  <a:srgbClr val="1E1E2E"/>
                </a:solidFill>
                <a:sym typeface="+mn-ea"/>
              </a:rPr>
              <a:t>（主键）</a:t>
            </a:r>
            <a:endParaRPr lang="zh-CN" sz="1100" b="1" i="0">
              <a:solidFill>
                <a:srgbClr val="1E1E2E"/>
              </a:solidFill>
            </a:endParaRPr>
          </a:p>
          <a:p>
            <a:pPr algn="l"/>
            <a:endParaRPr sz="1100" b="1" i="0">
              <a:solidFill>
                <a:srgbClr val="1E1E2E"/>
              </a:solidFill>
            </a:endParaRPr>
          </a:p>
        </p:txBody>
      </p:sp>
      <p:sp>
        <p:nvSpPr>
          <p:cNvPr id="33" name="TextBox 32"/>
          <p:cNvSpPr txBox="1"/>
          <p:nvPr/>
        </p:nvSpPr>
        <p:spPr>
          <a:xfrm>
            <a:off x="502920" y="4919472"/>
            <a:ext cx="32918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E1E2E"/>
                </a:solidFill>
              </a:rPr>
              <a:t>• order_sn 订单号</a:t>
            </a:r>
            <a:endParaRPr sz="1100" b="0" i="0">
              <a:solidFill>
                <a:srgbClr val="1E1E2E"/>
              </a:solidFill>
            </a:endParaRPr>
          </a:p>
        </p:txBody>
      </p:sp>
      <p:sp>
        <p:nvSpPr>
          <p:cNvPr id="34" name="TextBox 33"/>
          <p:cNvSpPr txBox="1"/>
          <p:nvPr/>
        </p:nvSpPr>
        <p:spPr>
          <a:xfrm>
            <a:off x="502920" y="5285232"/>
            <a:ext cx="32918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E1E2E"/>
                </a:solidFill>
              </a:rPr>
              <a:t>• user_id FK</a:t>
            </a:r>
            <a:endParaRPr sz="1100" b="0" i="0">
              <a:solidFill>
                <a:srgbClr val="1E1E2E"/>
              </a:solidFill>
            </a:endParaRPr>
          </a:p>
        </p:txBody>
      </p:sp>
      <p:sp>
        <p:nvSpPr>
          <p:cNvPr id="35" name="TextBox 34"/>
          <p:cNvSpPr txBox="1"/>
          <p:nvPr/>
        </p:nvSpPr>
        <p:spPr>
          <a:xfrm>
            <a:off x="502920" y="5650992"/>
            <a:ext cx="32918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E1E2E"/>
                </a:solidFill>
              </a:rPr>
              <a:t>• total_amount</a:t>
            </a:r>
            <a:endParaRPr sz="1100" b="0" i="0">
              <a:solidFill>
                <a:srgbClr val="1E1E2E"/>
              </a:solidFill>
            </a:endParaRPr>
          </a:p>
        </p:txBody>
      </p:sp>
      <p:sp>
        <p:nvSpPr>
          <p:cNvPr id="36" name="TextBox 35"/>
          <p:cNvSpPr txBox="1"/>
          <p:nvPr/>
        </p:nvSpPr>
        <p:spPr>
          <a:xfrm>
            <a:off x="502920" y="6016752"/>
            <a:ext cx="32918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E1E2E"/>
                </a:solidFill>
              </a:rPr>
              <a:t>• status 状态</a:t>
            </a:r>
            <a:endParaRPr sz="1100" b="0" i="0">
              <a:solidFill>
                <a:srgbClr val="1E1E2E"/>
              </a:solidFill>
            </a:endParaRPr>
          </a:p>
        </p:txBody>
      </p:sp>
      <p:sp>
        <p:nvSpPr>
          <p:cNvPr id="37" name="Rectangle 36"/>
          <p:cNvSpPr/>
          <p:nvPr/>
        </p:nvSpPr>
        <p:spPr>
          <a:xfrm>
            <a:off x="4233672" y="4023360"/>
            <a:ext cx="3657600" cy="2423160"/>
          </a:xfrm>
          <a:prstGeom prst="rect">
            <a:avLst/>
          </a:prstGeom>
          <a:solidFill>
            <a:srgbClr val="FFFFFF"/>
          </a:solidFill>
          <a:ln w="6350">
            <a:solidFill>
              <a:srgbClr val="CBD9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4233672" y="4023360"/>
            <a:ext cx="3657600" cy="457200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4343400" y="4078224"/>
            <a:ext cx="34747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category 表</a:t>
            </a:r>
            <a:endParaRPr sz="1300" b="1" i="0">
              <a:solidFill>
                <a:srgbClr val="FFFFFF"/>
              </a:solidFill>
            </a:endParaRPr>
          </a:p>
        </p:txBody>
      </p:sp>
      <p:sp>
        <p:nvSpPr>
          <p:cNvPr id="40" name="TextBox 39"/>
          <p:cNvSpPr txBox="1"/>
          <p:nvPr/>
        </p:nvSpPr>
        <p:spPr>
          <a:xfrm>
            <a:off x="4416552" y="4553712"/>
            <a:ext cx="3291840" cy="42989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1E1E2E"/>
                </a:solidFill>
              </a:rPr>
              <a:t>• cat_id PK</a:t>
            </a:r>
            <a:r>
              <a:rPr lang="zh-CN" sz="1100" b="1">
                <a:solidFill>
                  <a:srgbClr val="1E1E2E"/>
                </a:solidFill>
                <a:sym typeface="+mn-ea"/>
              </a:rPr>
              <a:t>（主键）</a:t>
            </a:r>
            <a:endParaRPr lang="zh-CN" sz="1100" b="1" i="0">
              <a:solidFill>
                <a:srgbClr val="1E1E2E"/>
              </a:solidFill>
            </a:endParaRPr>
          </a:p>
          <a:p>
            <a:pPr algn="l"/>
            <a:endParaRPr sz="1100" b="1" i="0">
              <a:solidFill>
                <a:srgbClr val="1E1E2E"/>
              </a:solidFill>
            </a:endParaRPr>
          </a:p>
        </p:txBody>
      </p:sp>
      <p:sp>
        <p:nvSpPr>
          <p:cNvPr id="41" name="TextBox 40"/>
          <p:cNvSpPr txBox="1"/>
          <p:nvPr/>
        </p:nvSpPr>
        <p:spPr>
          <a:xfrm>
            <a:off x="4416552" y="4919472"/>
            <a:ext cx="32918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E1E2E"/>
                </a:solidFill>
              </a:rPr>
              <a:t>• cat_name</a:t>
            </a:r>
            <a:endParaRPr sz="1100" b="0" i="0">
              <a:solidFill>
                <a:srgbClr val="1E1E2E"/>
              </a:solidFill>
            </a:endParaRPr>
          </a:p>
        </p:txBody>
      </p:sp>
      <p:sp>
        <p:nvSpPr>
          <p:cNvPr id="42" name="TextBox 41"/>
          <p:cNvSpPr txBox="1"/>
          <p:nvPr/>
        </p:nvSpPr>
        <p:spPr>
          <a:xfrm>
            <a:off x="4416552" y="5285232"/>
            <a:ext cx="32918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E1E2E"/>
                </a:solidFill>
              </a:rPr>
              <a:t>• parent_id 父分类</a:t>
            </a:r>
            <a:endParaRPr sz="1100" b="0" i="0">
              <a:solidFill>
                <a:srgbClr val="1E1E2E"/>
              </a:solidFill>
            </a:endParaRPr>
          </a:p>
        </p:txBody>
      </p:sp>
      <p:sp>
        <p:nvSpPr>
          <p:cNvPr id="43" name="TextBox 42"/>
          <p:cNvSpPr txBox="1"/>
          <p:nvPr/>
        </p:nvSpPr>
        <p:spPr>
          <a:xfrm>
            <a:off x="4416552" y="5650992"/>
            <a:ext cx="32918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E1E2E"/>
                </a:solidFill>
              </a:rPr>
              <a:t>• sort_order</a:t>
            </a:r>
            <a:endParaRPr sz="1100" b="0" i="0">
              <a:solidFill>
                <a:srgbClr val="1E1E2E"/>
              </a:solidFill>
            </a:endParaRPr>
          </a:p>
        </p:txBody>
      </p:sp>
      <p:sp>
        <p:nvSpPr>
          <p:cNvPr id="44" name="Rectangle 43"/>
          <p:cNvSpPr/>
          <p:nvPr/>
        </p:nvSpPr>
        <p:spPr>
          <a:xfrm>
            <a:off x="8147304" y="4023360"/>
            <a:ext cx="3657600" cy="2423160"/>
          </a:xfrm>
          <a:prstGeom prst="rect">
            <a:avLst/>
          </a:prstGeom>
          <a:solidFill>
            <a:srgbClr val="FFFFFF"/>
          </a:solidFill>
          <a:ln w="6350">
            <a:solidFill>
              <a:srgbClr val="CBD9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Rectangle 44"/>
          <p:cNvSpPr/>
          <p:nvPr/>
        </p:nvSpPr>
        <p:spPr>
          <a:xfrm>
            <a:off x="8147304" y="4023360"/>
            <a:ext cx="3657600" cy="457200"/>
          </a:xfrm>
          <a:prstGeom prst="rect">
            <a:avLst/>
          </a:prstGeom>
          <a:solidFill>
            <a:srgbClr val="6C35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8257032" y="4078224"/>
            <a:ext cx="34747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banner 表</a:t>
            </a:r>
            <a:endParaRPr sz="1300" b="1" i="0">
              <a:solidFill>
                <a:srgbClr val="FFFFFF"/>
              </a:solidFill>
            </a:endParaRPr>
          </a:p>
        </p:txBody>
      </p:sp>
      <p:sp>
        <p:nvSpPr>
          <p:cNvPr id="47" name="TextBox 46"/>
          <p:cNvSpPr txBox="1"/>
          <p:nvPr/>
        </p:nvSpPr>
        <p:spPr>
          <a:xfrm>
            <a:off x="8330184" y="4553712"/>
            <a:ext cx="3291840" cy="42989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1E1E2E"/>
                </a:solidFill>
              </a:rPr>
              <a:t>• banner_id PK</a:t>
            </a:r>
            <a:r>
              <a:rPr lang="zh-CN" sz="1100" b="1">
                <a:solidFill>
                  <a:srgbClr val="1E1E2E"/>
                </a:solidFill>
                <a:sym typeface="+mn-ea"/>
              </a:rPr>
              <a:t>（主键）</a:t>
            </a:r>
            <a:endParaRPr lang="zh-CN" sz="1100" b="1" i="0">
              <a:solidFill>
                <a:srgbClr val="1E1E2E"/>
              </a:solidFill>
            </a:endParaRPr>
          </a:p>
          <a:p>
            <a:pPr algn="l"/>
            <a:endParaRPr sz="1100" b="1" i="0">
              <a:solidFill>
                <a:srgbClr val="1E1E2E"/>
              </a:solidFill>
            </a:endParaRPr>
          </a:p>
        </p:txBody>
      </p:sp>
      <p:sp>
        <p:nvSpPr>
          <p:cNvPr id="48" name="TextBox 47"/>
          <p:cNvSpPr txBox="1"/>
          <p:nvPr/>
        </p:nvSpPr>
        <p:spPr>
          <a:xfrm>
            <a:off x="8330184" y="4919472"/>
            <a:ext cx="32918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E1E2E"/>
                </a:solidFill>
              </a:rPr>
              <a:t>• banner_title</a:t>
            </a:r>
            <a:endParaRPr sz="1100" b="0" i="0">
              <a:solidFill>
                <a:srgbClr val="1E1E2E"/>
              </a:solidFill>
            </a:endParaRPr>
          </a:p>
        </p:txBody>
      </p:sp>
      <p:sp>
        <p:nvSpPr>
          <p:cNvPr id="49" name="TextBox 48"/>
          <p:cNvSpPr txBox="1"/>
          <p:nvPr/>
        </p:nvSpPr>
        <p:spPr>
          <a:xfrm>
            <a:off x="8330184" y="5285232"/>
            <a:ext cx="32918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E1E2E"/>
                </a:solidFill>
              </a:rPr>
              <a:t>• banner_img</a:t>
            </a:r>
            <a:endParaRPr sz="1100" b="0" i="0">
              <a:solidFill>
                <a:srgbClr val="1E1E2E"/>
              </a:solidFill>
            </a:endParaRPr>
          </a:p>
        </p:txBody>
      </p:sp>
      <p:sp>
        <p:nvSpPr>
          <p:cNvPr id="50" name="TextBox 49"/>
          <p:cNvSpPr txBox="1"/>
          <p:nvPr/>
        </p:nvSpPr>
        <p:spPr>
          <a:xfrm>
            <a:off x="8330184" y="5650992"/>
            <a:ext cx="32918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E1E2E"/>
                </a:solidFill>
              </a:rPr>
              <a:t>• banner_url</a:t>
            </a:r>
            <a:endParaRPr sz="1100" b="0" i="0">
              <a:solidFill>
                <a:srgbClr val="1E1E2E"/>
              </a:solidFill>
            </a:endParaRPr>
          </a:p>
        </p:txBody>
      </p:sp>
      <p:sp>
        <p:nvSpPr>
          <p:cNvPr id="51" name="TextBox 50"/>
          <p:cNvSpPr txBox="1"/>
          <p:nvPr/>
        </p:nvSpPr>
        <p:spPr>
          <a:xfrm>
            <a:off x="8330184" y="6016752"/>
            <a:ext cx="32918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E1E2E"/>
                </a:solidFill>
              </a:rPr>
              <a:t>• sort_order</a:t>
            </a:r>
            <a:endParaRPr sz="1100" b="0" i="0">
              <a:solidFill>
                <a:srgbClr val="1E1E2E"/>
              </a:solidFill>
            </a:endParaRPr>
          </a:p>
        </p:txBody>
      </p:sp>
      <p:sp>
        <p:nvSpPr>
          <p:cNvPr id="52" name="Rectangle 51"/>
          <p:cNvSpPr/>
          <p:nvPr/>
        </p:nvSpPr>
        <p:spPr>
          <a:xfrm>
            <a:off x="0" y="6675120"/>
            <a:ext cx="12188952" cy="182880"/>
          </a:xfrm>
          <a:prstGeom prst="rect">
            <a:avLst/>
          </a:prstGeom>
          <a:solidFill>
            <a:srgbClr val="257A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4F7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51560"/>
          </a:xfrm>
          <a:prstGeom prst="rect">
            <a:avLst/>
          </a:prstGeom>
          <a:solidFill>
            <a:srgbClr val="1A3C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11480" y="164592"/>
            <a:ext cx="9144000" cy="49149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  <a:sym typeface="+mn-ea"/>
              </a:rPr>
              <a:t>页面展示 — </a:t>
            </a:r>
            <a:r>
              <a:rPr sz="2600" b="1" i="0">
                <a:solidFill>
                  <a:srgbClr val="FFFFFF"/>
                </a:solidFill>
              </a:rPr>
              <a:t>首页</a:t>
            </a:r>
            <a:endParaRPr sz="2600" b="1" i="0">
              <a:solidFill>
                <a:srgbClr val="FFFFFF"/>
              </a:solidFill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411480" y="694944"/>
            <a:ext cx="91440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B0C8E8"/>
                </a:solidFill>
              </a:rPr>
              <a:t>Home Page — Feature Breakdown</a:t>
            </a:r>
            <a:endParaRPr sz="1400" b="0" i="0">
              <a:solidFill>
                <a:srgbClr val="B0C8E8"/>
              </a:solidFill>
            </a:endParaRPr>
          </a:p>
        </p:txBody>
      </p:sp>
      <p:pic>
        <p:nvPicPr>
          <p:cNvPr id="6" name="Picture 5" descr="01_index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20040" y="1170432"/>
            <a:ext cx="6858000" cy="5394960"/>
          </a:xfrm>
          <a:prstGeom prst="rect">
            <a:avLst/>
          </a:prstGeom>
        </p:spPr>
      </p:pic>
      <p:sp>
        <p:nvSpPr>
          <p:cNvPr id="7" name="Rectangle 6"/>
          <p:cNvSpPr/>
          <p:nvPr/>
        </p:nvSpPr>
        <p:spPr>
          <a:xfrm>
            <a:off x="7406640" y="1170432"/>
            <a:ext cx="4480560" cy="5394960"/>
          </a:xfrm>
          <a:prstGeom prst="rect">
            <a:avLst/>
          </a:prstGeom>
          <a:solidFill>
            <a:srgbClr val="FFFFFF"/>
          </a:solidFill>
          <a:ln w="6350">
            <a:solidFill>
              <a:srgbClr val="CBD9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406640" y="1170432"/>
            <a:ext cx="4480560" cy="54864"/>
          </a:xfrm>
          <a:prstGeom prst="rect">
            <a:avLst/>
          </a:prstGeom>
          <a:solidFill>
            <a:srgbClr val="1A3C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7543800" y="1463040"/>
            <a:ext cx="4206240" cy="713232"/>
          </a:xfrm>
          <a:prstGeom prst="rect">
            <a:avLst/>
          </a:prstGeom>
          <a:solidFill>
            <a:srgbClr val="EAF3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635240" y="1517904"/>
            <a:ext cx="457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1E1E2E"/>
                </a:solidFill>
              </a:rPr>
              <a:t>🔍</a:t>
            </a:r>
            <a:endParaRPr sz="1600" b="0" i="0">
              <a:solidFill>
                <a:srgbClr val="1E1E2E"/>
              </a:solidFill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8092440" y="1499616"/>
            <a:ext cx="3474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A3C6E"/>
                </a:solidFill>
              </a:rPr>
              <a:t>搜索栏</a:t>
            </a:r>
            <a:endParaRPr sz="1200" b="1" i="0">
              <a:solidFill>
                <a:srgbClr val="1A3C6E"/>
              </a:solidFill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8092440" y="1810512"/>
            <a:ext cx="3474720" cy="3987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555F73"/>
                </a:solidFill>
              </a:rPr>
              <a:t>支持商品 / 分类关键词搜索
模糊匹配</a:t>
            </a:r>
            <a:endParaRPr sz="1000" b="0" i="0">
              <a:solidFill>
                <a:srgbClr val="555F73"/>
              </a:solidFill>
            </a:endParaRPr>
          </a:p>
        </p:txBody>
      </p:sp>
      <p:sp>
        <p:nvSpPr>
          <p:cNvPr id="13" name="Rectangle 12"/>
          <p:cNvSpPr/>
          <p:nvPr/>
        </p:nvSpPr>
        <p:spPr>
          <a:xfrm>
            <a:off x="7543800" y="2267712"/>
            <a:ext cx="4206240" cy="71323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635240" y="2322576"/>
            <a:ext cx="457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1E1E2E"/>
                </a:solidFill>
              </a:rPr>
              <a:t>🔄</a:t>
            </a:r>
            <a:endParaRPr sz="1600" b="0" i="0">
              <a:solidFill>
                <a:srgbClr val="1E1E2E"/>
              </a:solidFill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8092440" y="2304288"/>
            <a:ext cx="3474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A3C6E"/>
                </a:solidFill>
              </a:rPr>
              <a:t>轮播图</a:t>
            </a:r>
            <a:endParaRPr sz="1200" b="1" i="0">
              <a:solidFill>
                <a:srgbClr val="1A3C6E"/>
              </a:solidFill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8092440" y="2615184"/>
            <a:ext cx="34747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555F73"/>
                </a:solidFill>
              </a:rPr>
              <a:t>3张Banner自动轮播
支持手动左右切换</a:t>
            </a:r>
            <a:endParaRPr sz="1000" b="0" i="0">
              <a:solidFill>
                <a:srgbClr val="555F73"/>
              </a:solidFill>
            </a:endParaRPr>
          </a:p>
        </p:txBody>
      </p:sp>
      <p:sp>
        <p:nvSpPr>
          <p:cNvPr id="17" name="Rectangle 16"/>
          <p:cNvSpPr/>
          <p:nvPr/>
        </p:nvSpPr>
        <p:spPr>
          <a:xfrm>
            <a:off x="7543800" y="3072384"/>
            <a:ext cx="4206240" cy="713232"/>
          </a:xfrm>
          <a:prstGeom prst="rect">
            <a:avLst/>
          </a:prstGeom>
          <a:solidFill>
            <a:srgbClr val="EAF3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635240" y="3127248"/>
            <a:ext cx="457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1E1E2E"/>
                </a:solidFill>
              </a:rPr>
              <a:t>📂</a:t>
            </a:r>
            <a:endParaRPr sz="1600" b="0" i="0">
              <a:solidFill>
                <a:srgbClr val="1E1E2E"/>
              </a:solidFill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8092440" y="3108960"/>
            <a:ext cx="3474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A3C6E"/>
                </a:solidFill>
              </a:rPr>
              <a:t>分类导航</a:t>
            </a:r>
            <a:endParaRPr sz="1200" b="1" i="0">
              <a:solidFill>
                <a:srgbClr val="1A3C6E"/>
              </a:solidFill>
            </a:endParaRPr>
          </a:p>
        </p:txBody>
      </p:sp>
      <p:sp>
        <p:nvSpPr>
          <p:cNvPr id="20" name="TextBox 19"/>
          <p:cNvSpPr txBox="1"/>
          <p:nvPr/>
        </p:nvSpPr>
        <p:spPr>
          <a:xfrm>
            <a:off x="8092440" y="3419856"/>
            <a:ext cx="34747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555F73"/>
                </a:solidFill>
              </a:rPr>
              <a:t>8大商品分类
红色渐变色醒目展示</a:t>
            </a:r>
            <a:endParaRPr sz="1000" b="0" i="0">
              <a:solidFill>
                <a:srgbClr val="555F73"/>
              </a:solidFill>
            </a:endParaRPr>
          </a:p>
        </p:txBody>
      </p:sp>
      <p:sp>
        <p:nvSpPr>
          <p:cNvPr id="21" name="Rectangle 20"/>
          <p:cNvSpPr/>
          <p:nvPr/>
        </p:nvSpPr>
        <p:spPr>
          <a:xfrm>
            <a:off x="7543800" y="3877056"/>
            <a:ext cx="4206240" cy="71323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635240" y="3931920"/>
            <a:ext cx="457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1E1E2E"/>
                </a:solidFill>
              </a:rPr>
              <a:t>🔥</a:t>
            </a:r>
            <a:endParaRPr sz="1600" b="0" i="0">
              <a:solidFill>
                <a:srgbClr val="1E1E2E"/>
              </a:solidFill>
            </a:endParaRPr>
          </a:p>
        </p:txBody>
      </p:sp>
      <p:sp>
        <p:nvSpPr>
          <p:cNvPr id="23" name="TextBox 22"/>
          <p:cNvSpPr txBox="1"/>
          <p:nvPr/>
        </p:nvSpPr>
        <p:spPr>
          <a:xfrm>
            <a:off x="8092440" y="3913632"/>
            <a:ext cx="3474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A3C6E"/>
                </a:solidFill>
              </a:rPr>
              <a:t>热门推荐</a:t>
            </a:r>
            <a:endParaRPr sz="1200" b="1" i="0">
              <a:solidFill>
                <a:srgbClr val="1A3C6E"/>
              </a:solidFill>
            </a:endParaRPr>
          </a:p>
        </p:txBody>
      </p:sp>
      <p:sp>
        <p:nvSpPr>
          <p:cNvPr id="24" name="TextBox 23"/>
          <p:cNvSpPr txBox="1"/>
          <p:nvPr/>
        </p:nvSpPr>
        <p:spPr>
          <a:xfrm>
            <a:off x="8092440" y="4224528"/>
            <a:ext cx="34747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555F73"/>
                </a:solidFill>
              </a:rPr>
              <a:t>6列网格 + 图片懒加载
Hover 上浮动画效果</a:t>
            </a:r>
            <a:endParaRPr sz="1000" b="0" i="0">
              <a:solidFill>
                <a:srgbClr val="555F73"/>
              </a:solidFill>
            </a:endParaRPr>
          </a:p>
        </p:txBody>
      </p:sp>
      <p:sp>
        <p:nvSpPr>
          <p:cNvPr id="25" name="Rectangle 24"/>
          <p:cNvSpPr/>
          <p:nvPr/>
        </p:nvSpPr>
        <p:spPr>
          <a:xfrm>
            <a:off x="7543800" y="4681728"/>
            <a:ext cx="4206240" cy="713232"/>
          </a:xfrm>
          <a:prstGeom prst="rect">
            <a:avLst/>
          </a:prstGeom>
          <a:solidFill>
            <a:srgbClr val="EAF3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7635240" y="4736592"/>
            <a:ext cx="457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1E1E2E"/>
                </a:solidFill>
              </a:rPr>
              <a:t>🛒</a:t>
            </a:r>
            <a:endParaRPr sz="1600" b="0" i="0">
              <a:solidFill>
                <a:srgbClr val="1E1E2E"/>
              </a:solidFill>
            </a:endParaRPr>
          </a:p>
        </p:txBody>
      </p:sp>
      <p:sp>
        <p:nvSpPr>
          <p:cNvPr id="27" name="TextBox 26"/>
          <p:cNvSpPr txBox="1"/>
          <p:nvPr/>
        </p:nvSpPr>
        <p:spPr>
          <a:xfrm>
            <a:off x="8092440" y="4718304"/>
            <a:ext cx="3474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A3C6E"/>
                </a:solidFill>
              </a:rPr>
              <a:t>悬浮购物车</a:t>
            </a:r>
            <a:endParaRPr sz="1200" b="1" i="0">
              <a:solidFill>
                <a:srgbClr val="1A3C6E"/>
              </a:solidFill>
            </a:endParaRPr>
          </a:p>
        </p:txBody>
      </p:sp>
      <p:sp>
        <p:nvSpPr>
          <p:cNvPr id="28" name="TextBox 27"/>
          <p:cNvSpPr txBox="1"/>
          <p:nvPr/>
        </p:nvSpPr>
        <p:spPr>
          <a:xfrm>
            <a:off x="8092440" y="5029200"/>
            <a:ext cx="3474720" cy="3987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>
                <a:solidFill>
                  <a:srgbClr val="555F73"/>
                </a:solidFill>
                <a:sym typeface="+mn-ea"/>
              </a:rPr>
              <a:t>Ajax 异步加载</a:t>
            </a:r>
            <a:r>
              <a:rPr sz="1000" b="0" i="0">
                <a:solidFill>
                  <a:srgbClr val="555F73"/>
                </a:solidFill>
              </a:rPr>
              <a:t>
可快速预览/删除</a:t>
            </a:r>
            <a:endParaRPr sz="1000" b="0" i="0">
              <a:solidFill>
                <a:srgbClr val="555F73"/>
              </a:solidFill>
            </a:endParaRPr>
          </a:p>
        </p:txBody>
      </p:sp>
      <p:sp>
        <p:nvSpPr>
          <p:cNvPr id="29" name="Rectangle 28"/>
          <p:cNvSpPr/>
          <p:nvPr/>
        </p:nvSpPr>
        <p:spPr>
          <a:xfrm>
            <a:off x="7543800" y="5486400"/>
            <a:ext cx="4206240" cy="71323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7635240" y="5541264"/>
            <a:ext cx="457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1E1E2E"/>
                </a:solidFill>
              </a:rPr>
              <a:t>⬆</a:t>
            </a:r>
            <a:endParaRPr sz="1600" b="0" i="0">
              <a:solidFill>
                <a:srgbClr val="1E1E2E"/>
              </a:solidFill>
            </a:endParaRPr>
          </a:p>
        </p:txBody>
      </p:sp>
      <p:sp>
        <p:nvSpPr>
          <p:cNvPr id="31" name="TextBox 30"/>
          <p:cNvSpPr txBox="1"/>
          <p:nvPr/>
        </p:nvSpPr>
        <p:spPr>
          <a:xfrm>
            <a:off x="8092440" y="5522976"/>
            <a:ext cx="3474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A3C6E"/>
                </a:solidFill>
              </a:rPr>
              <a:t>回到顶部</a:t>
            </a:r>
            <a:endParaRPr sz="1200" b="1" i="0">
              <a:solidFill>
                <a:srgbClr val="1A3C6E"/>
              </a:solidFill>
            </a:endParaRPr>
          </a:p>
        </p:txBody>
      </p:sp>
      <p:sp>
        <p:nvSpPr>
          <p:cNvPr id="32" name="TextBox 31"/>
          <p:cNvSpPr txBox="1"/>
          <p:nvPr/>
        </p:nvSpPr>
        <p:spPr>
          <a:xfrm>
            <a:off x="8092440" y="5833872"/>
            <a:ext cx="34747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555F73"/>
                </a:solidFill>
              </a:rPr>
              <a:t>滚动 &gt;300px 自动出现
平滑滚动动画</a:t>
            </a:r>
            <a:endParaRPr sz="1000" b="0" i="0">
              <a:solidFill>
                <a:srgbClr val="555F73"/>
              </a:solidFill>
            </a:endParaRPr>
          </a:p>
        </p:txBody>
      </p:sp>
      <p:sp>
        <p:nvSpPr>
          <p:cNvPr id="33" name="Rectangle 32"/>
          <p:cNvSpPr/>
          <p:nvPr/>
        </p:nvSpPr>
        <p:spPr>
          <a:xfrm>
            <a:off x="0" y="6675120"/>
            <a:ext cx="12188952" cy="182880"/>
          </a:xfrm>
          <a:prstGeom prst="rect">
            <a:avLst/>
          </a:prstGeom>
          <a:solidFill>
            <a:srgbClr val="257A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4F7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51560"/>
          </a:xfrm>
          <a:prstGeom prst="rect">
            <a:avLst/>
          </a:prstGeom>
          <a:solidFill>
            <a:srgbClr val="1A3C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11480" y="164592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</a:rPr>
              <a:t>页面展示 — 商品列表</a:t>
            </a:r>
            <a:endParaRPr sz="2600" b="1" i="0">
              <a:solidFill>
                <a:srgbClr val="FFFFFF"/>
              </a:solidFill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411480" y="694944"/>
            <a:ext cx="91440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B0C8E8"/>
                </a:solidFill>
              </a:rPr>
              <a:t>Goods List — 分类筛选 + 分页浏览</a:t>
            </a:r>
            <a:endParaRPr sz="1400" b="0" i="0">
              <a:solidFill>
                <a:srgbClr val="B0C8E8"/>
              </a:solidFill>
            </a:endParaRPr>
          </a:p>
        </p:txBody>
      </p:sp>
      <p:pic>
        <p:nvPicPr>
          <p:cNvPr id="6" name="Picture 5" descr="02_goods_list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20040" y="1170432"/>
            <a:ext cx="11521440" cy="5440680"/>
          </a:xfrm>
          <a:prstGeom prst="rect">
            <a:avLst/>
          </a:prstGeom>
        </p:spPr>
      </p:pic>
      <p:sp>
        <p:nvSpPr>
          <p:cNvPr id="7" name="Rectangle 6"/>
          <p:cNvSpPr/>
          <p:nvPr/>
        </p:nvSpPr>
        <p:spPr>
          <a:xfrm>
            <a:off x="0" y="6675120"/>
            <a:ext cx="12188952" cy="182880"/>
          </a:xfrm>
          <a:prstGeom prst="rect">
            <a:avLst/>
          </a:prstGeom>
          <a:solidFill>
            <a:srgbClr val="257A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155680" y="6492240"/>
            <a:ext cx="914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555F73"/>
                </a:solidFill>
              </a:rPr>
              <a:t>5 / 20</a:t>
            </a:r>
            <a:endParaRPr sz="1000" b="0" i="0">
              <a:solidFill>
                <a:srgbClr val="555F73"/>
              </a:solidFill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777240"/>
          </a:xfrm>
          <a:prstGeom prst="rect">
            <a:avLst/>
          </a:prstGeom>
          <a:solidFill>
            <a:srgbClr val="1A3A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777240"/>
          </a:xfrm>
          <a:prstGeom prst="rect">
            <a:avLst/>
          </a:prstGeom>
          <a:solidFill>
            <a:srgbClr val="E1251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137160"/>
            <a:ext cx="73152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800" b="1">
                <a:solidFill>
                  <a:srgbClr val="FFFFFF"/>
                </a:solidFill>
              </a:defRPr>
            </a:pPr>
            <a:r>
              <a:t>热卖商城 -- PHP MVC 项目讲解</a:t>
            </a:r>
          </a:p>
        </p:txBody>
      </p:sp>
      <p:sp>
        <p:nvSpPr>
          <p:cNvPr id="5" name="Rectangle 4"/>
          <p:cNvSpPr/>
          <p:nvPr/>
        </p:nvSpPr>
        <p:spPr>
          <a:xfrm>
            <a:off x="10972800" y="182880"/>
            <a:ext cx="109728" cy="109728"/>
          </a:xfrm>
          <a:prstGeom prst="rect">
            <a:avLst/>
          </a:prstGeom>
          <a:solidFill>
            <a:srgbClr val="E1251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11173968" y="182880"/>
            <a:ext cx="109728" cy="109728"/>
          </a:xfrm>
          <a:prstGeom prst="rect">
            <a:avLst/>
          </a:prstGeom>
          <a:solidFill>
            <a:srgbClr val="E1251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11375136" y="182880"/>
            <a:ext cx="109728" cy="109728"/>
          </a:xfrm>
          <a:prstGeom prst="rect">
            <a:avLst/>
          </a:prstGeom>
          <a:solidFill>
            <a:srgbClr val="E1251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320040" y="868680"/>
            <a:ext cx="11548872" cy="5577840"/>
          </a:xfrm>
          <a:prstGeom prst="rect">
            <a:avLst/>
          </a:prstGeom>
          <a:solidFill>
            <a:srgbClr val="FFFFFF"/>
          </a:solidFill>
          <a:ln w="457200">
            <a:solidFill>
              <a:srgbClr val="DCDF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48640" y="960120"/>
            <a:ext cx="10972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600" b="1">
                <a:solidFill>
                  <a:srgbClr val="1A3A6E"/>
                </a:solidFill>
              </a:defRPr>
            </a:pPr>
            <a:r>
              <a:t>📄  分页 &amp; 搜索功能详解</a:t>
            </a:r>
          </a:p>
        </p:txBody>
      </p:sp>
      <p:sp>
        <p:nvSpPr>
          <p:cNvPr id="10" name="Rectangle 9"/>
          <p:cNvSpPr/>
          <p:nvPr/>
        </p:nvSpPr>
        <p:spPr>
          <a:xfrm>
            <a:off x="548640" y="1508760"/>
            <a:ext cx="5394960" cy="2560320"/>
          </a:xfrm>
          <a:prstGeom prst="rect">
            <a:avLst/>
          </a:prstGeom>
          <a:solidFill>
            <a:srgbClr val="F5F7FA"/>
          </a:solidFill>
          <a:ln w="457200">
            <a:solidFill>
              <a:srgbClr val="E1251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31520" y="1645920"/>
            <a:ext cx="502920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300" b="1">
                <a:solidFill>
                  <a:srgbClr val="1A3A6E"/>
                </a:solidFill>
              </a:defRPr>
            </a:pPr>
            <a:r>
              <a:t>📄  分页功能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77240" y="2103120"/>
            <a:ext cx="493776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000" b="0">
                <a:solidFill>
                  <a:srgbClr val="444444"/>
                </a:solidFill>
              </a:defRPr>
            </a:pPr>
            <a:r>
              <a:t>• 商品列表页支持分页展示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77240" y="2423160"/>
            <a:ext cx="493776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000" b="0">
                <a:solidFill>
                  <a:srgbClr val="444444"/>
                </a:solidFill>
              </a:defRPr>
            </a:pPr>
            <a:r>
              <a:t>• 默认每页 12 个商品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77240" y="2743200"/>
            <a:ext cx="493776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000" b="0">
                <a:solidFill>
                  <a:srgbClr val="444444"/>
                </a:solidFill>
              </a:defRPr>
            </a:pPr>
            <a:r>
              <a:t>• 分页导航：上一页 / 页码 / 下一页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77240" y="3063239"/>
            <a:ext cx="493776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000" b="0">
                <a:solidFill>
                  <a:srgbClr val="444444"/>
                </a:solidFill>
              </a:defRPr>
            </a:pPr>
            <a:r>
              <a:t>• 分页参数：page（当前页）、page_size（每页数量）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77240" y="3383279"/>
            <a:ext cx="493776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000" b="0">
                <a:solidFill>
                  <a:srgbClr val="444444"/>
                </a:solidFill>
              </a:defRPr>
            </a:pPr>
            <a:r>
              <a:t>• SQL 中使用 LIMIT ? OFFSET ? 实现分页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77240" y="3703320"/>
            <a:ext cx="493776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000" b="0">
                <a:solidFill>
                  <a:srgbClr val="444444"/>
                </a:solidFill>
              </a:defRPr>
            </a:pPr>
            <a:r>
              <a:t>• 分类筛选与分页参数联动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48640" y="4251960"/>
            <a:ext cx="5394960" cy="2194560"/>
          </a:xfrm>
          <a:prstGeom prst="rect">
            <a:avLst/>
          </a:prstGeom>
          <a:solidFill>
            <a:srgbClr val="F5F7FA"/>
          </a:solidFill>
          <a:ln w="457200">
            <a:solidFill>
              <a:srgbClr val="67C2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31520" y="4389120"/>
            <a:ext cx="502920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300" b="1">
                <a:solidFill>
                  <a:srgbClr val="1A3A6E"/>
                </a:solidFill>
              </a:defRPr>
            </a:pPr>
            <a:r>
              <a:t>🔍  搜索功能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77240" y="4846320"/>
            <a:ext cx="493776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000" b="0">
                <a:solidFill>
                  <a:srgbClr val="444444"/>
                </a:solidFill>
              </a:defRPr>
            </a:pPr>
            <a:r>
              <a:t>• 支持关键词模糊搜索（keyword 参数）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77240" y="5166359"/>
            <a:ext cx="493776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000" b="0">
                <a:solidFill>
                  <a:srgbClr val="444444"/>
                </a:solidFill>
              </a:defRPr>
            </a:pPr>
            <a:r>
              <a:t>• 优先匹配分类名称（category.cat_name）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77240" y="5486400"/>
            <a:ext cx="493776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000" b="0">
                <a:solidFill>
                  <a:srgbClr val="444444"/>
                </a:solidFill>
              </a:defRPr>
            </a:pPr>
            <a:r>
              <a:t>• 其次匹配商品名称（goods.goods_name）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77240" y="5806440"/>
            <a:ext cx="493776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000" b="0">
                <a:solidFill>
                  <a:srgbClr val="444444"/>
                </a:solidFill>
              </a:defRPr>
            </a:pPr>
            <a:r>
              <a:t>• 搜索结果页支持分页展示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77240" y="6126479"/>
            <a:ext cx="493776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000" b="0">
                <a:solidFill>
                  <a:srgbClr val="444444"/>
                </a:solidFill>
              </a:defRPr>
            </a:pPr>
            <a:r>
              <a:t>• 搜索框全局出现在所有页面顶部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77240" y="6446520"/>
            <a:ext cx="493776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000" b="0">
                <a:solidFill>
                  <a:srgbClr val="444444"/>
                </a:solidFill>
              </a:defRPr>
            </a:pPr>
            <a:r>
              <a:t>• 搜索 API：/goods/search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400800" y="1508760"/>
            <a:ext cx="5467985" cy="5175885"/>
          </a:xfrm>
          <a:prstGeom prst="rect">
            <a:avLst/>
          </a:prstGeom>
          <a:solidFill>
            <a:srgbClr val="F6F8FA"/>
          </a:solidFill>
          <a:ln w="457200">
            <a:solidFill>
              <a:srgbClr val="DCDF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583680" y="1645920"/>
            <a:ext cx="5029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100" b="1">
                <a:solidFill>
                  <a:srgbClr val="1A3A6E"/>
                </a:solidFill>
              </a:defRPr>
            </a:pPr>
            <a:r>
              <a:t>💻  关键代码（分页 &amp; 搜索 SQL）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629400" y="2057400"/>
            <a:ext cx="52120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950" b="0">
                <a:solidFill>
                  <a:srgbClr val="444444"/>
                </a:solidFill>
              </a:defRPr>
            </a:pPr>
            <a:r>
              <a:t>// 分页 SQL（goods model）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629400" y="4471416"/>
            <a:ext cx="52120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950" b="0">
                <a:solidFill>
                  <a:srgbClr val="444444"/>
                </a:solidFill>
              </a:defRPr>
            </a:pPr>
            <a:r>
              <a:t>// 搜索 SQL（优先匹配分类名）</a:t>
            </a:r>
          </a:p>
        </p:txBody>
      </p:sp>
      <p:sp>
        <p:nvSpPr>
          <p:cNvPr id="55" name="Rectangle 54"/>
          <p:cNvSpPr/>
          <p:nvPr/>
        </p:nvSpPr>
        <p:spPr>
          <a:xfrm>
            <a:off x="-59690" y="6583680"/>
            <a:ext cx="12188952" cy="274320"/>
          </a:xfrm>
          <a:prstGeom prst="rect">
            <a:avLst/>
          </a:prstGeom>
          <a:solidFill>
            <a:srgbClr val="1A3A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文本框 55"/>
          <p:cNvSpPr txBox="1"/>
          <p:nvPr/>
        </p:nvSpPr>
        <p:spPr>
          <a:xfrm>
            <a:off x="6581775" y="2377440"/>
            <a:ext cx="4469130" cy="203962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en-US" altLang="zh-CN" sz="950"/>
              <a:t>public function getGoodsList($limit = 10, $offset = 0)</a:t>
            </a:r>
            <a:endParaRPr lang="en-US" altLang="zh-CN" sz="950"/>
          </a:p>
          <a:p>
            <a:r>
              <a:rPr lang="en-US" altLang="zh-CN" sz="950"/>
              <a:t>    {</a:t>
            </a:r>
            <a:endParaRPr lang="en-US" altLang="zh-CN" sz="950"/>
          </a:p>
          <a:p>
            <a:r>
              <a:rPr lang="en-US" altLang="zh-CN" sz="950"/>
              <a:t>        // limit</a:t>
            </a:r>
            <a:r>
              <a:rPr lang="zh-CN" altLang="en-US" sz="950"/>
              <a:t>设置每页显示的结果集数量，</a:t>
            </a:r>
            <a:r>
              <a:rPr lang="en-US" altLang="zh-CN" sz="950"/>
              <a:t>offset</a:t>
            </a:r>
            <a:r>
              <a:rPr lang="zh-CN" altLang="en-US" sz="950"/>
              <a:t>表示从第几条结果集开始显示</a:t>
            </a:r>
            <a:endParaRPr lang="zh-CN" altLang="en-US" sz="950"/>
          </a:p>
          <a:p>
            <a:r>
              <a:rPr lang="en-US" altLang="zh-CN" sz="950"/>
              <a:t>        $sql = "SELECT * FROM goods WHERE is_sale=1 AND status=1 ORDER BY goods_id DESC LIMIT ? OFFSET ?";</a:t>
            </a:r>
            <a:endParaRPr lang="en-US" altLang="zh-CN" sz="950"/>
          </a:p>
          <a:p>
            <a:r>
              <a:rPr lang="zh-CN" altLang="en-US" sz="950"/>
              <a:t>        // 调用</a:t>
            </a:r>
            <a:r>
              <a:rPr lang="en-US" altLang="zh-CN" sz="950"/>
              <a:t>db</a:t>
            </a:r>
            <a:r>
              <a:rPr lang="zh-CN" altLang="en-US" sz="950"/>
              <a:t>类的</a:t>
            </a:r>
            <a:r>
              <a:rPr lang="en-US" altLang="zh-CN" sz="950"/>
              <a:t>fetchAll</a:t>
            </a:r>
            <a:r>
              <a:rPr lang="zh-CN" altLang="en-US" sz="950"/>
              <a:t>方法执行</a:t>
            </a:r>
            <a:r>
              <a:rPr lang="en-US" altLang="zh-CN" sz="950"/>
              <a:t>SQL</a:t>
            </a:r>
            <a:r>
              <a:rPr lang="zh-CN" altLang="en-US" sz="950"/>
              <a:t>查询，传入</a:t>
            </a:r>
            <a:r>
              <a:rPr lang="en-US" altLang="zh-CN" sz="950"/>
              <a:t>SQL</a:t>
            </a:r>
            <a:r>
              <a:rPr lang="zh-CN" altLang="en-US" sz="950"/>
              <a:t>语句和绑定参数</a:t>
            </a:r>
            <a:endParaRPr lang="zh-CN" altLang="en-US" sz="950"/>
          </a:p>
          <a:p>
            <a:r>
              <a:rPr lang="en-US" altLang="zh-CN" sz="950"/>
              <a:t>        return $this-&gt;db-&gt;fetchAll($sql, [$limit, $offset]);</a:t>
            </a:r>
            <a:endParaRPr lang="en-US" altLang="zh-CN" sz="950"/>
          </a:p>
          <a:p>
            <a:r>
              <a:rPr lang="en-US" altLang="zh-CN" sz="950"/>
              <a:t>    }</a:t>
            </a:r>
            <a:endParaRPr lang="en-US" altLang="zh-CN" sz="950"/>
          </a:p>
        </p:txBody>
      </p:sp>
      <p:sp>
        <p:nvSpPr>
          <p:cNvPr id="57" name="文本框 56"/>
          <p:cNvSpPr txBox="1"/>
          <p:nvPr/>
        </p:nvSpPr>
        <p:spPr>
          <a:xfrm>
            <a:off x="6639560" y="4750435"/>
            <a:ext cx="4390390" cy="166179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en-US" altLang="zh-CN" sz="950"/>
              <a:t>public function searchGoods($keyword, $limit = 10, $offset = 0)</a:t>
            </a:r>
            <a:endParaRPr lang="en-US" altLang="zh-CN" sz="950"/>
          </a:p>
          <a:p>
            <a:r>
              <a:rPr lang="en-US" altLang="zh-CN" sz="950"/>
              <a:t>    {</a:t>
            </a:r>
            <a:endParaRPr lang="en-US" altLang="zh-CN" sz="950"/>
          </a:p>
          <a:p>
            <a:r>
              <a:rPr lang="en-US" altLang="zh-CN" sz="950"/>
              <a:t>        $sql = "SELECT * FROM goods WHERE is_sale=1 AND status=1 AND goods_name LIKE ? ORDER BY goods_id DESC LIMIT ? OFFSET ?";</a:t>
            </a:r>
            <a:endParaRPr lang="en-US" altLang="zh-CN" sz="950"/>
          </a:p>
          <a:p>
            <a:r>
              <a:rPr lang="en-US" altLang="zh-CN" sz="950"/>
              <a:t>        return $this-&gt;db-&gt;fetchAll($sql, ['%' . $keyword . '%', $limit, $offset]);</a:t>
            </a:r>
            <a:endParaRPr lang="en-US" altLang="zh-CN" sz="950"/>
          </a:p>
          <a:p>
            <a:r>
              <a:rPr lang="en-US" altLang="zh-CN" sz="950"/>
              <a:t>    }</a:t>
            </a:r>
            <a:endParaRPr lang="zh-CN" altLang="en-US" sz="95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4F7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51560"/>
          </a:xfrm>
          <a:prstGeom prst="rect">
            <a:avLst/>
          </a:prstGeom>
          <a:solidFill>
            <a:srgbClr val="1A3C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11480" y="164592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</a:rPr>
              <a:t>页面展示 — 用户登录 &amp; 注册</a:t>
            </a:r>
            <a:endParaRPr sz="2600" b="1" i="0">
              <a:solidFill>
                <a:srgbClr val="FFFFFF"/>
              </a:solidFill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411480" y="694944"/>
            <a:ext cx="91440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B0C8E8"/>
                </a:solidFill>
              </a:rPr>
              <a:t>Login &amp; Register — 验证码 + 表单验证</a:t>
            </a:r>
            <a:endParaRPr sz="1400" b="0" i="0">
              <a:solidFill>
                <a:srgbClr val="B0C8E8"/>
              </a:solidFill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320040" y="1325880"/>
            <a:ext cx="5623560" cy="5212080"/>
          </a:xfrm>
          <a:prstGeom prst="rect">
            <a:avLst/>
          </a:prstGeom>
          <a:solidFill>
            <a:srgbClr val="FFFFFF"/>
          </a:solidFill>
          <a:ln w="6350">
            <a:solidFill>
              <a:srgbClr val="CBD9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320040" y="1325880"/>
            <a:ext cx="5623560" cy="411480"/>
          </a:xfrm>
          <a:prstGeom prst="rect">
            <a:avLst/>
          </a:prstGeom>
          <a:solidFill>
            <a:srgbClr val="1A3C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1371600"/>
            <a:ext cx="5029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🔑  用户登录</a:t>
            </a:r>
            <a:endParaRPr sz="1300" b="1" i="0">
              <a:solidFill>
                <a:srgbClr val="FFFFFF"/>
              </a:solidFill>
            </a:endParaRPr>
          </a:p>
        </p:txBody>
      </p:sp>
      <p:pic>
        <p:nvPicPr>
          <p:cNvPr id="9" name="Picture 8" descr="04_login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20040" y="1874519"/>
            <a:ext cx="5623560" cy="347472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457200" y="5486400"/>
            <a:ext cx="5303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555F73"/>
                </a:solidFill>
              </a:rPr>
              <a:t>• POST /user/login 提交</a:t>
            </a:r>
            <a:endParaRPr sz="1100" b="0" i="0">
              <a:solidFill>
                <a:srgbClr val="555F73"/>
              </a:solidFill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457200" y="5833872"/>
            <a:ext cx="5303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555F73"/>
                </a:solidFill>
              </a:rPr>
              <a:t>• password_verify() 哈希验证</a:t>
            </a:r>
            <a:endParaRPr sz="1100" b="0" i="0">
              <a:solidFill>
                <a:srgbClr val="555F73"/>
              </a:solidFill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457200" y="6181344"/>
            <a:ext cx="5303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555F73"/>
                </a:solidFill>
              </a:rPr>
              <a:t>• Gregwar/Captcha 图形验证码</a:t>
            </a:r>
            <a:endParaRPr sz="1100" b="0" i="0">
              <a:solidFill>
                <a:srgbClr val="555F73"/>
              </a:solidFill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2467610" y="5486146"/>
            <a:ext cx="5303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555F73"/>
                </a:solidFill>
              </a:rPr>
              <a:t>• Session 记录登录态</a:t>
            </a:r>
            <a:endParaRPr sz="1100" b="0" i="0">
              <a:solidFill>
                <a:srgbClr val="555F73"/>
              </a:solidFill>
            </a:endParaRPr>
          </a:p>
        </p:txBody>
      </p:sp>
      <p:sp>
        <p:nvSpPr>
          <p:cNvPr id="14" name="Rectangle 13"/>
          <p:cNvSpPr/>
          <p:nvPr/>
        </p:nvSpPr>
        <p:spPr>
          <a:xfrm>
            <a:off x="6217920" y="1325880"/>
            <a:ext cx="5623560" cy="5212080"/>
          </a:xfrm>
          <a:prstGeom prst="rect">
            <a:avLst/>
          </a:prstGeom>
          <a:solidFill>
            <a:srgbClr val="FFFFFF"/>
          </a:solidFill>
          <a:ln w="6350">
            <a:solidFill>
              <a:srgbClr val="CBD9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217920" y="1325880"/>
            <a:ext cx="5623560" cy="411480"/>
          </a:xfrm>
          <a:prstGeom prst="rect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355080" y="1371600"/>
            <a:ext cx="5029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📝  用户注册</a:t>
            </a:r>
            <a:endParaRPr sz="1300" b="1" i="0">
              <a:solidFill>
                <a:srgbClr val="FFFFFF"/>
              </a:solidFill>
            </a:endParaRPr>
          </a:p>
        </p:txBody>
      </p:sp>
      <p:pic>
        <p:nvPicPr>
          <p:cNvPr id="17" name="Picture 16" descr="05_regist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17920" y="1874519"/>
            <a:ext cx="5623560" cy="3474720"/>
          </a:xfrm>
          <a:prstGeom prst="rect">
            <a:avLst/>
          </a:prstGeom>
        </p:spPr>
      </p:pic>
      <p:sp>
        <p:nvSpPr>
          <p:cNvPr id="18" name="TextBox 17"/>
          <p:cNvSpPr txBox="1"/>
          <p:nvPr/>
        </p:nvSpPr>
        <p:spPr>
          <a:xfrm>
            <a:off x="6355080" y="5486400"/>
            <a:ext cx="5303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555F73"/>
                </a:solidFill>
              </a:rPr>
              <a:t>• POST /user/register 提交</a:t>
            </a:r>
            <a:endParaRPr sz="1100" b="0" i="0">
              <a:solidFill>
                <a:srgbClr val="555F73"/>
              </a:solidFill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6355080" y="5833872"/>
            <a:ext cx="5303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555F73"/>
                </a:solidFill>
              </a:rPr>
              <a:t>• password_hash() 加密存储</a:t>
            </a:r>
            <a:endParaRPr sz="1100" b="0" i="0">
              <a:solidFill>
                <a:srgbClr val="555F73"/>
              </a:solidFill>
            </a:endParaRPr>
          </a:p>
        </p:txBody>
      </p:sp>
      <p:sp>
        <p:nvSpPr>
          <p:cNvPr id="20" name="TextBox 19"/>
          <p:cNvSpPr txBox="1"/>
          <p:nvPr/>
        </p:nvSpPr>
        <p:spPr>
          <a:xfrm>
            <a:off x="6355080" y="6181344"/>
            <a:ext cx="5303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555F73"/>
                </a:solidFill>
              </a:rPr>
              <a:t>• 用户名唯一性校验</a:t>
            </a:r>
            <a:endParaRPr sz="1100" b="0" i="0">
              <a:solidFill>
                <a:srgbClr val="555F73"/>
              </a:solidFill>
            </a:endParaRPr>
          </a:p>
        </p:txBody>
      </p:sp>
      <p:sp>
        <p:nvSpPr>
          <p:cNvPr id="21" name="TextBox 20"/>
          <p:cNvSpPr txBox="1"/>
          <p:nvPr/>
        </p:nvSpPr>
        <p:spPr>
          <a:xfrm>
            <a:off x="8263890" y="5486146"/>
            <a:ext cx="5303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555F73"/>
                </a:solidFill>
              </a:rPr>
              <a:t>• 验证码 + 前后端双重校验</a:t>
            </a:r>
            <a:endParaRPr sz="1100" b="0" i="0">
              <a:solidFill>
                <a:srgbClr val="555F73"/>
              </a:solidFill>
            </a:endParaRPr>
          </a:p>
        </p:txBody>
      </p:sp>
      <p:sp>
        <p:nvSpPr>
          <p:cNvPr id="22" name="Rectangle 21"/>
          <p:cNvSpPr/>
          <p:nvPr/>
        </p:nvSpPr>
        <p:spPr>
          <a:xfrm>
            <a:off x="0" y="6675120"/>
            <a:ext cx="12188952" cy="182880"/>
          </a:xfrm>
          <a:prstGeom prst="rect">
            <a:avLst/>
          </a:prstGeom>
          <a:solidFill>
            <a:srgbClr val="257A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4F7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51560"/>
          </a:xfrm>
          <a:prstGeom prst="rect">
            <a:avLst/>
          </a:prstGeom>
          <a:solidFill>
            <a:srgbClr val="1A3C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11480" y="164592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</a:rPr>
              <a:t>页面展示 — 购物车</a:t>
            </a:r>
            <a:endParaRPr sz="2600" b="1" i="0">
              <a:solidFill>
                <a:srgbClr val="FFFFFF"/>
              </a:solidFill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411480" y="694944"/>
            <a:ext cx="91440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B0C8E8"/>
                </a:solidFill>
              </a:rPr>
              <a:t>Shopping Cart — 商品管理 + 结算</a:t>
            </a:r>
            <a:endParaRPr sz="1400" b="0" i="0">
              <a:solidFill>
                <a:srgbClr val="B0C8E8"/>
              </a:solidFill>
            </a:endParaRPr>
          </a:p>
        </p:txBody>
      </p:sp>
      <p:pic>
        <p:nvPicPr>
          <p:cNvPr id="6" name="Picture 5" descr="06_cart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20040" y="1170432"/>
            <a:ext cx="11521440" cy="5440680"/>
          </a:xfrm>
          <a:prstGeom prst="rect">
            <a:avLst/>
          </a:prstGeom>
        </p:spPr>
      </p:pic>
      <p:sp>
        <p:nvSpPr>
          <p:cNvPr id="7" name="Rectangle 6"/>
          <p:cNvSpPr/>
          <p:nvPr/>
        </p:nvSpPr>
        <p:spPr>
          <a:xfrm>
            <a:off x="0" y="6675120"/>
            <a:ext cx="12188952" cy="182880"/>
          </a:xfrm>
          <a:prstGeom prst="rect">
            <a:avLst/>
          </a:prstGeom>
          <a:solidFill>
            <a:srgbClr val="257A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4F7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51560"/>
          </a:xfrm>
          <a:prstGeom prst="rect">
            <a:avLst/>
          </a:prstGeom>
          <a:solidFill>
            <a:srgbClr val="1A3C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11480" y="164592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</a:rPr>
              <a:t>购物车功能详解</a:t>
            </a:r>
            <a:endParaRPr sz="2600" b="1" i="0">
              <a:solidFill>
                <a:srgbClr val="FFFFFF"/>
              </a:solidFill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411480" y="694944"/>
            <a:ext cx="91440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B0C8E8"/>
                </a:solidFill>
              </a:rPr>
              <a:t>Cart Features — 增删改查 + 结算流程</a:t>
            </a:r>
            <a:endParaRPr sz="1400" b="0" i="0">
              <a:solidFill>
                <a:srgbClr val="B0C8E8"/>
              </a:solidFill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320040" y="1371600"/>
            <a:ext cx="2148840" cy="1920240"/>
          </a:xfrm>
          <a:prstGeom prst="rect">
            <a:avLst/>
          </a:prstGeom>
          <a:solidFill>
            <a:srgbClr val="FFFFFF"/>
          </a:solidFill>
          <a:ln w="6350">
            <a:solidFill>
              <a:srgbClr val="CBD9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320040" y="1371600"/>
            <a:ext cx="320040" cy="1920240"/>
          </a:xfrm>
          <a:prstGeom prst="rect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1463040"/>
            <a:ext cx="1554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27AE60"/>
                </a:solidFill>
              </a:rPr>
              <a:t>加入购物车</a:t>
            </a:r>
            <a:endParaRPr sz="1300" b="1" i="0">
              <a:solidFill>
                <a:srgbClr val="27AE60"/>
              </a:solidFill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777240" y="1965960"/>
            <a:ext cx="155448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555F73"/>
                </a:solidFill>
              </a:rPr>
              <a:t>cart/add
POST + user_id
+ goods_id + num</a:t>
            </a:r>
            <a:endParaRPr sz="1000" b="0" i="0">
              <a:solidFill>
                <a:srgbClr val="555F73"/>
              </a:solidFill>
            </a:endParaRPr>
          </a:p>
        </p:txBody>
      </p:sp>
      <p:sp>
        <p:nvSpPr>
          <p:cNvPr id="10" name="Rectangle 9"/>
          <p:cNvSpPr/>
          <p:nvPr/>
        </p:nvSpPr>
        <p:spPr>
          <a:xfrm>
            <a:off x="2514600" y="2286000"/>
            <a:ext cx="109728" cy="38100"/>
          </a:xfrm>
          <a:prstGeom prst="rect">
            <a:avLst/>
          </a:prstGeom>
          <a:solidFill>
            <a:srgbClr val="555F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560320" y="2176272"/>
            <a:ext cx="1371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555F73"/>
                </a:solidFill>
              </a:rPr>
              <a:t>▶</a:t>
            </a:r>
            <a:endParaRPr sz="900" b="0" i="0">
              <a:solidFill>
                <a:srgbClr val="555F73"/>
              </a:solidFill>
            </a:endParaRPr>
          </a:p>
        </p:txBody>
      </p:sp>
      <p:sp>
        <p:nvSpPr>
          <p:cNvPr id="12" name="Rectangle 11"/>
          <p:cNvSpPr/>
          <p:nvPr/>
        </p:nvSpPr>
        <p:spPr>
          <a:xfrm>
            <a:off x="2651760" y="1371600"/>
            <a:ext cx="2148840" cy="1920240"/>
          </a:xfrm>
          <a:prstGeom prst="rect">
            <a:avLst/>
          </a:prstGeom>
          <a:solidFill>
            <a:srgbClr val="FFFFFF"/>
          </a:solidFill>
          <a:ln w="6350">
            <a:solidFill>
              <a:srgbClr val="CBD9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2651760" y="1371600"/>
            <a:ext cx="320040" cy="1920240"/>
          </a:xfrm>
          <a:prstGeom prst="rect">
            <a:avLst/>
          </a:prstGeom>
          <a:solidFill>
            <a:srgbClr val="257A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108960" y="1463040"/>
            <a:ext cx="1554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257ABF"/>
                </a:solidFill>
              </a:rPr>
              <a:t>数量调整</a:t>
            </a:r>
            <a:endParaRPr sz="1300" b="1" i="0">
              <a:solidFill>
                <a:srgbClr val="257ABF"/>
              </a:solidFill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3108960" y="1965960"/>
            <a:ext cx="155448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555F73"/>
                </a:solidFill>
              </a:rPr>
              <a:t>cart/update
POST + cart_id
+ goods_num ±1</a:t>
            </a:r>
            <a:endParaRPr sz="1000" b="0" i="0">
              <a:solidFill>
                <a:srgbClr val="555F73"/>
              </a:solidFill>
            </a:endParaRPr>
          </a:p>
        </p:txBody>
      </p:sp>
      <p:sp>
        <p:nvSpPr>
          <p:cNvPr id="16" name="Rectangle 15"/>
          <p:cNvSpPr/>
          <p:nvPr/>
        </p:nvSpPr>
        <p:spPr>
          <a:xfrm>
            <a:off x="4846320" y="2286000"/>
            <a:ext cx="109728" cy="38100"/>
          </a:xfrm>
          <a:prstGeom prst="rect">
            <a:avLst/>
          </a:prstGeom>
          <a:solidFill>
            <a:srgbClr val="555F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892040" y="2176272"/>
            <a:ext cx="1371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555F73"/>
                </a:solidFill>
              </a:rPr>
              <a:t>▶</a:t>
            </a:r>
            <a:endParaRPr sz="900" b="0" i="0">
              <a:solidFill>
                <a:srgbClr val="555F73"/>
              </a:solidFill>
            </a:endParaRPr>
          </a:p>
        </p:txBody>
      </p:sp>
      <p:sp>
        <p:nvSpPr>
          <p:cNvPr id="18" name="Rectangle 17"/>
          <p:cNvSpPr/>
          <p:nvPr/>
        </p:nvSpPr>
        <p:spPr>
          <a:xfrm>
            <a:off x="4983479" y="1371600"/>
            <a:ext cx="2148840" cy="1920240"/>
          </a:xfrm>
          <a:prstGeom prst="rect">
            <a:avLst/>
          </a:prstGeom>
          <a:solidFill>
            <a:srgbClr val="FFFFFF"/>
          </a:solidFill>
          <a:ln w="6350">
            <a:solidFill>
              <a:srgbClr val="CBD9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4983479" y="1371600"/>
            <a:ext cx="320040" cy="1920240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440679" y="1463040"/>
            <a:ext cx="1554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C0392B"/>
                </a:solidFill>
              </a:rPr>
              <a:t>删除商品</a:t>
            </a:r>
            <a:endParaRPr sz="1300" b="1" i="0">
              <a:solidFill>
                <a:srgbClr val="C0392B"/>
              </a:solidFill>
            </a:endParaRPr>
          </a:p>
        </p:txBody>
      </p:sp>
      <p:sp>
        <p:nvSpPr>
          <p:cNvPr id="21" name="TextBox 20"/>
          <p:cNvSpPr txBox="1"/>
          <p:nvPr/>
        </p:nvSpPr>
        <p:spPr>
          <a:xfrm>
            <a:off x="5440679" y="1965960"/>
            <a:ext cx="155448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555F73"/>
                </a:solidFill>
              </a:rPr>
              <a:t>cart/delete
POST + cart_id
清空某条记录</a:t>
            </a:r>
            <a:endParaRPr sz="1000" b="0" i="0">
              <a:solidFill>
                <a:srgbClr val="555F73"/>
              </a:solidFill>
            </a:endParaRPr>
          </a:p>
        </p:txBody>
      </p:sp>
      <p:sp>
        <p:nvSpPr>
          <p:cNvPr id="22" name="Rectangle 21"/>
          <p:cNvSpPr/>
          <p:nvPr/>
        </p:nvSpPr>
        <p:spPr>
          <a:xfrm>
            <a:off x="7178039" y="2286000"/>
            <a:ext cx="109728" cy="38100"/>
          </a:xfrm>
          <a:prstGeom prst="rect">
            <a:avLst/>
          </a:prstGeom>
          <a:solidFill>
            <a:srgbClr val="555F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223759" y="2176272"/>
            <a:ext cx="1371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555F73"/>
                </a:solidFill>
              </a:rPr>
              <a:t>▶</a:t>
            </a:r>
            <a:endParaRPr sz="900" b="0" i="0">
              <a:solidFill>
                <a:srgbClr val="555F73"/>
              </a:solidFill>
            </a:endParaRPr>
          </a:p>
        </p:txBody>
      </p:sp>
      <p:sp>
        <p:nvSpPr>
          <p:cNvPr id="24" name="Rectangle 23"/>
          <p:cNvSpPr/>
          <p:nvPr/>
        </p:nvSpPr>
        <p:spPr>
          <a:xfrm>
            <a:off x="7315199" y="1371600"/>
            <a:ext cx="2148840" cy="1920240"/>
          </a:xfrm>
          <a:prstGeom prst="rect">
            <a:avLst/>
          </a:prstGeom>
          <a:solidFill>
            <a:srgbClr val="FFFFFF"/>
          </a:solidFill>
          <a:ln w="6350">
            <a:solidFill>
              <a:srgbClr val="CBD9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7315199" y="1371600"/>
            <a:ext cx="320040" cy="1920240"/>
          </a:xfrm>
          <a:prstGeom prst="rect">
            <a:avLst/>
          </a:prstGeom>
          <a:solidFill>
            <a:srgbClr val="E67E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7772399" y="1463040"/>
            <a:ext cx="1554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E67E22"/>
                </a:solidFill>
              </a:rPr>
              <a:t>清空购物车</a:t>
            </a:r>
            <a:endParaRPr sz="1300" b="1" i="0">
              <a:solidFill>
                <a:srgbClr val="E67E22"/>
              </a:solidFill>
            </a:endParaRPr>
          </a:p>
        </p:txBody>
      </p:sp>
      <p:sp>
        <p:nvSpPr>
          <p:cNvPr id="27" name="TextBox 26"/>
          <p:cNvSpPr txBox="1"/>
          <p:nvPr/>
        </p:nvSpPr>
        <p:spPr>
          <a:xfrm>
            <a:off x="7772399" y="1965960"/>
            <a:ext cx="155448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555F73"/>
                </a:solidFill>
              </a:rPr>
              <a:t>cart/clear
POST + user_id
删除全部</a:t>
            </a:r>
            <a:endParaRPr sz="1000" b="0" i="0">
              <a:solidFill>
                <a:srgbClr val="555F73"/>
              </a:solidFill>
            </a:endParaRPr>
          </a:p>
        </p:txBody>
      </p:sp>
      <p:sp>
        <p:nvSpPr>
          <p:cNvPr id="28" name="Rectangle 27"/>
          <p:cNvSpPr/>
          <p:nvPr/>
        </p:nvSpPr>
        <p:spPr>
          <a:xfrm>
            <a:off x="9509759" y="2286000"/>
            <a:ext cx="109728" cy="38100"/>
          </a:xfrm>
          <a:prstGeom prst="rect">
            <a:avLst/>
          </a:prstGeom>
          <a:solidFill>
            <a:srgbClr val="555F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9555479" y="2176272"/>
            <a:ext cx="1371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555F73"/>
                </a:solidFill>
              </a:rPr>
              <a:t>▶</a:t>
            </a:r>
            <a:endParaRPr sz="900" b="0" i="0">
              <a:solidFill>
                <a:srgbClr val="555F73"/>
              </a:solidFill>
            </a:endParaRPr>
          </a:p>
        </p:txBody>
      </p:sp>
      <p:sp>
        <p:nvSpPr>
          <p:cNvPr id="30" name="Rectangle 29"/>
          <p:cNvSpPr/>
          <p:nvPr/>
        </p:nvSpPr>
        <p:spPr>
          <a:xfrm>
            <a:off x="9646919" y="1371600"/>
            <a:ext cx="2148840" cy="1920240"/>
          </a:xfrm>
          <a:prstGeom prst="rect">
            <a:avLst/>
          </a:prstGeom>
          <a:solidFill>
            <a:srgbClr val="FFFFFF"/>
          </a:solidFill>
          <a:ln w="6350">
            <a:solidFill>
              <a:srgbClr val="CBD9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9646919" y="1371600"/>
            <a:ext cx="320040" cy="1920240"/>
          </a:xfrm>
          <a:prstGeom prst="rect">
            <a:avLst/>
          </a:prstGeom>
          <a:solidFill>
            <a:srgbClr val="1A3C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10104119" y="1463040"/>
            <a:ext cx="1554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A3C6E"/>
                </a:solidFill>
              </a:rPr>
              <a:t>结算订单</a:t>
            </a:r>
            <a:endParaRPr sz="1300" b="1" i="0">
              <a:solidFill>
                <a:srgbClr val="1A3C6E"/>
              </a:solidFill>
            </a:endParaRPr>
          </a:p>
        </p:txBody>
      </p:sp>
      <p:sp>
        <p:nvSpPr>
          <p:cNvPr id="33" name="TextBox 32"/>
          <p:cNvSpPr txBox="1"/>
          <p:nvPr/>
        </p:nvSpPr>
        <p:spPr>
          <a:xfrm>
            <a:off x="10104119" y="1965960"/>
            <a:ext cx="155448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555F73"/>
                </a:solidFill>
              </a:rPr>
              <a:t>cart/checkout
POST + user_id
生成 order</a:t>
            </a:r>
            <a:endParaRPr sz="1000" b="0" i="0">
              <a:solidFill>
                <a:srgbClr val="555F73"/>
              </a:solidFill>
            </a:endParaRPr>
          </a:p>
        </p:txBody>
      </p:sp>
      <p:sp>
        <p:nvSpPr>
          <p:cNvPr id="34" name="Rectangle 33"/>
          <p:cNvSpPr/>
          <p:nvPr/>
        </p:nvSpPr>
        <p:spPr>
          <a:xfrm>
            <a:off x="320040" y="3657600"/>
            <a:ext cx="11521440" cy="2194560"/>
          </a:xfrm>
          <a:prstGeom prst="rect">
            <a:avLst/>
          </a:prstGeom>
          <a:solidFill>
            <a:srgbClr val="FFFFFF"/>
          </a:solidFill>
          <a:ln w="6350">
            <a:solidFill>
              <a:srgbClr val="CBD9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320040" y="3657600"/>
            <a:ext cx="11521440" cy="411480"/>
          </a:xfrm>
          <a:prstGeom prst="rect">
            <a:avLst/>
          </a:prstGeom>
          <a:solidFill>
            <a:srgbClr val="257A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457200" y="3703320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📊  购物车页面交互细节</a:t>
            </a:r>
            <a:endParaRPr sz="1300" b="1" i="0">
              <a:solidFill>
                <a:srgbClr val="FFFFFF"/>
              </a:solidFill>
            </a:endParaRPr>
          </a:p>
        </p:txBody>
      </p:sp>
      <p:sp>
        <p:nvSpPr>
          <p:cNvPr id="37" name="TextBox 36"/>
          <p:cNvSpPr txBox="1"/>
          <p:nvPr/>
        </p:nvSpPr>
        <p:spPr>
          <a:xfrm>
            <a:off x="457200" y="4187952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E1E2E"/>
                </a:solidFill>
              </a:rPr>
              <a:t>• 全选/反选 — Checkbox 联动总价计算</a:t>
            </a:r>
            <a:endParaRPr sz="1200" b="0" i="0">
              <a:solidFill>
                <a:srgbClr val="1E1E2E"/>
              </a:solidFill>
            </a:endParaRPr>
          </a:p>
        </p:txBody>
      </p:sp>
      <p:sp>
        <p:nvSpPr>
          <p:cNvPr id="38" name="TextBox 37"/>
          <p:cNvSpPr txBox="1"/>
          <p:nvPr/>
        </p:nvSpPr>
        <p:spPr>
          <a:xfrm>
            <a:off x="457200" y="4590288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E1E2E"/>
                </a:solidFill>
              </a:rPr>
              <a:t>• 数量调整 — 按钮 ±1，数量≥1 限制</a:t>
            </a:r>
            <a:endParaRPr sz="1200" b="0" i="0">
              <a:solidFill>
                <a:srgbClr val="1E1E2E"/>
              </a:solidFill>
            </a:endParaRPr>
          </a:p>
        </p:txBody>
      </p:sp>
      <p:sp>
        <p:nvSpPr>
          <p:cNvPr id="39" name="TextBox 38"/>
          <p:cNvSpPr txBox="1"/>
          <p:nvPr/>
        </p:nvSpPr>
        <p:spPr>
          <a:xfrm>
            <a:off x="457200" y="4992624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E1E2E"/>
                </a:solidFill>
              </a:rPr>
              <a:t>• 实时小计 — price × num 实时更新</a:t>
            </a:r>
            <a:endParaRPr sz="1200" b="0" i="0">
              <a:solidFill>
                <a:srgbClr val="1E1E2E"/>
              </a:solidFill>
            </a:endParaRPr>
          </a:p>
        </p:txBody>
      </p:sp>
      <p:sp>
        <p:nvSpPr>
          <p:cNvPr id="40" name="TextBox 39"/>
          <p:cNvSpPr txBox="1"/>
          <p:nvPr/>
        </p:nvSpPr>
        <p:spPr>
          <a:xfrm>
            <a:off x="457200" y="539496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E1E2E"/>
                </a:solidFill>
              </a:rPr>
              <a:t>• 删除确认 — 单条删除 / 批量删除</a:t>
            </a:r>
            <a:endParaRPr sz="1200" b="0" i="0">
              <a:solidFill>
                <a:srgbClr val="1E1E2E"/>
              </a:solidFill>
            </a:endParaRPr>
          </a:p>
        </p:txBody>
      </p:sp>
      <p:sp>
        <p:nvSpPr>
          <p:cNvPr id="41" name="TextBox 40"/>
          <p:cNvSpPr txBox="1"/>
          <p:nvPr/>
        </p:nvSpPr>
        <p:spPr>
          <a:xfrm>
            <a:off x="6126480" y="4187952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E1E2E"/>
                </a:solidFill>
              </a:rPr>
              <a:t>• 合计计算 — 选中商品金额自动汇总</a:t>
            </a:r>
            <a:endParaRPr sz="1200" b="0" i="0">
              <a:solidFill>
                <a:srgbClr val="1E1E2E"/>
              </a:solidFill>
            </a:endParaRPr>
          </a:p>
        </p:txBody>
      </p:sp>
      <p:sp>
        <p:nvSpPr>
          <p:cNvPr id="42" name="TextBox 41"/>
          <p:cNvSpPr txBox="1"/>
          <p:nvPr/>
        </p:nvSpPr>
        <p:spPr>
          <a:xfrm>
            <a:off x="6126480" y="4590288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E1E2E"/>
                </a:solidFill>
              </a:rPr>
              <a:t>• 结算跳转 — POST /cart/checkout → 订单确认页</a:t>
            </a:r>
            <a:endParaRPr sz="1200" b="0" i="0">
              <a:solidFill>
                <a:srgbClr val="1E1E2E"/>
              </a:solidFill>
            </a:endParaRPr>
          </a:p>
        </p:txBody>
      </p:sp>
      <p:sp>
        <p:nvSpPr>
          <p:cNvPr id="44" name="TextBox 43"/>
          <p:cNvSpPr txBox="1"/>
          <p:nvPr/>
        </p:nvSpPr>
        <p:spPr>
          <a:xfrm>
            <a:off x="6127750" y="499237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E1E2E"/>
                </a:solidFill>
              </a:rPr>
              <a:t>• 悬浮车 — Header 购物车悬浮实时预览</a:t>
            </a:r>
            <a:endParaRPr sz="1200" b="0" i="0">
              <a:solidFill>
                <a:srgbClr val="1E1E2E"/>
              </a:solidFill>
            </a:endParaRPr>
          </a:p>
        </p:txBody>
      </p:sp>
      <p:sp>
        <p:nvSpPr>
          <p:cNvPr id="45" name="Rectangle 44"/>
          <p:cNvSpPr/>
          <p:nvPr/>
        </p:nvSpPr>
        <p:spPr>
          <a:xfrm>
            <a:off x="0" y="6675120"/>
            <a:ext cx="12188952" cy="182880"/>
          </a:xfrm>
          <a:prstGeom prst="rect">
            <a:avLst/>
          </a:prstGeom>
          <a:solidFill>
            <a:srgbClr val="257A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4F7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51560"/>
          </a:xfrm>
          <a:prstGeom prst="rect">
            <a:avLst/>
          </a:prstGeom>
          <a:solidFill>
            <a:srgbClr val="1A3C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11480" y="164592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</a:rPr>
              <a:t>页面展示 — 个人中心</a:t>
            </a:r>
            <a:endParaRPr sz="2600" b="1" i="0">
              <a:solidFill>
                <a:srgbClr val="FFFFFF"/>
              </a:solidFill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411480" y="694944"/>
            <a:ext cx="91440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B0C8E8"/>
                </a:solidFill>
              </a:rPr>
              <a:t>User Center — 个人信息 + 订单管理</a:t>
            </a:r>
            <a:endParaRPr sz="1400" b="0" i="0">
              <a:solidFill>
                <a:srgbClr val="B0C8E8"/>
              </a:solidFill>
            </a:endParaRPr>
          </a:p>
        </p:txBody>
      </p:sp>
      <p:pic>
        <p:nvPicPr>
          <p:cNvPr id="6" name="Picture 5" descr="07_user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20040" y="1170432"/>
            <a:ext cx="5303520" cy="3291840"/>
          </a:xfrm>
          <a:prstGeom prst="rect">
            <a:avLst/>
          </a:prstGeom>
        </p:spPr>
      </p:pic>
      <p:sp>
        <p:nvSpPr>
          <p:cNvPr id="7" name="Rectangle 6"/>
          <p:cNvSpPr/>
          <p:nvPr/>
        </p:nvSpPr>
        <p:spPr>
          <a:xfrm>
            <a:off x="5897880" y="1170432"/>
            <a:ext cx="5989320" cy="5440680"/>
          </a:xfrm>
          <a:prstGeom prst="rect">
            <a:avLst/>
          </a:prstGeom>
          <a:solidFill>
            <a:srgbClr val="FFFFFF"/>
          </a:solidFill>
          <a:ln w="6350">
            <a:solidFill>
              <a:srgbClr val="CBD9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897880" y="1170432"/>
            <a:ext cx="5989320" cy="457200"/>
          </a:xfrm>
          <a:prstGeom prst="rect">
            <a:avLst/>
          </a:prstGeom>
          <a:solidFill>
            <a:srgbClr val="1A3C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035040" y="1207008"/>
            <a:ext cx="5669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👤  个人中心功能（所有用户共有）</a:t>
            </a:r>
            <a:endParaRPr sz="1300" b="1" i="0">
              <a:solidFill>
                <a:srgbClr val="FFFFFF"/>
              </a:solidFill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6035040" y="1783080"/>
            <a:ext cx="56692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E1E2E"/>
                </a:solidFill>
              </a:rPr>
              <a:t>• 个人信息 — 用户名/手机号/注册时间/账户类型</a:t>
            </a:r>
            <a:endParaRPr sz="1200" b="0" i="0">
              <a:solidFill>
                <a:srgbClr val="1E1E2E"/>
              </a:solidFill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6035040" y="2167128"/>
            <a:ext cx="56692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E1E2E"/>
                </a:solidFill>
              </a:rPr>
              <a:t>• 订单管理 — 我的订单/待付款/待发货/待收货/已完成</a:t>
            </a:r>
            <a:endParaRPr sz="1200" b="0" i="0">
              <a:solidFill>
                <a:srgbClr val="1E1E2E"/>
              </a:solidFill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6035040" y="2551176"/>
            <a:ext cx="56692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E1E2E"/>
                </a:solidFill>
              </a:rPr>
              <a:t>• 收货地址 — 地址的增删改查 CRUD</a:t>
            </a:r>
            <a:endParaRPr sz="1200" b="0" i="0">
              <a:solidFill>
                <a:srgbClr val="1E1E2E"/>
              </a:solidFill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6035040" y="2935224"/>
            <a:ext cx="56692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E1E2E"/>
                </a:solidFill>
              </a:rPr>
              <a:t>• 优惠券 — 未使用/已使用/已过期优惠券查看</a:t>
            </a:r>
            <a:endParaRPr sz="1200" b="0" i="0">
              <a:solidFill>
                <a:srgbClr val="1E1E2E"/>
              </a:solidFill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6035040" y="3319272"/>
            <a:ext cx="56692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E1E2E"/>
                </a:solidFill>
              </a:rPr>
              <a:t>• 账号设置 — 修改密码/绑定手机号/退出登录</a:t>
            </a:r>
            <a:endParaRPr sz="1200" b="0" i="0">
              <a:solidFill>
                <a:srgbClr val="1E1E2E"/>
              </a:solidFill>
            </a:endParaRPr>
          </a:p>
        </p:txBody>
      </p:sp>
      <p:sp>
        <p:nvSpPr>
          <p:cNvPr id="15" name="Rectangle 14"/>
          <p:cNvSpPr/>
          <p:nvPr/>
        </p:nvSpPr>
        <p:spPr>
          <a:xfrm>
            <a:off x="5897880" y="3840480"/>
            <a:ext cx="5989320" cy="2743200"/>
          </a:xfrm>
          <a:prstGeom prst="rect">
            <a:avLst/>
          </a:prstGeom>
          <a:solidFill>
            <a:srgbClr val="EAF3FB"/>
          </a:solidFill>
          <a:ln w="6350">
            <a:solidFill>
              <a:srgbClr val="257A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035040" y="3931920"/>
            <a:ext cx="5669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A3C6E"/>
                </a:solidFill>
              </a:rPr>
              <a:t>💡  权限差异：普通用户 vs 管理员</a:t>
            </a:r>
            <a:endParaRPr sz="1300" b="1" i="0">
              <a:solidFill>
                <a:srgbClr val="1A3C6E"/>
              </a:solidFill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6035040" y="4343400"/>
            <a:ext cx="5669280" cy="161480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555F73"/>
                </a:solidFill>
              </a:rPr>
              <a:t>普通用户 (type=0)：
  • 上架商品 — 提交商品审核申请
  • 浏览购买 — 完整的购物流程
管理员 (type=1)：
  • 商品审核 — 通过/拒绝待审商品
  • 用户管理 — 查看和管理注册用户
  • 商品删除 — 违规商品下架
  ⇢ 两张角色截图见下页</a:t>
            </a:r>
            <a:endParaRPr sz="1100" b="0" i="0">
              <a:solidFill>
                <a:srgbClr val="555F73"/>
              </a:solidFill>
            </a:endParaRPr>
          </a:p>
        </p:txBody>
      </p:sp>
      <p:sp>
        <p:nvSpPr>
          <p:cNvPr id="18" name="TextBox 17"/>
          <p:cNvSpPr txBox="1"/>
          <p:nvPr/>
        </p:nvSpPr>
        <p:spPr>
          <a:xfrm>
            <a:off x="320040" y="4663440"/>
            <a:ext cx="530352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555F73"/>
                </a:solidFill>
              </a:rPr>
              <a:t>🔑  权限控制机制
• Session['user_type'] 区分角色
• 普通用户 → 显示「商品管理」菜单
• 管理员 → 显示「管理中心」菜单
• 后端 Controller 中二次鉴权
• 关键操作：if ($_SESSION['user_type'] != 1) 拦截</a:t>
            </a:r>
            <a:endParaRPr sz="1100" b="0" i="0">
              <a:solidFill>
                <a:srgbClr val="555F73"/>
              </a:solidFill>
            </a:endParaRPr>
          </a:p>
        </p:txBody>
      </p:sp>
      <p:sp>
        <p:nvSpPr>
          <p:cNvPr id="19" name="Rectangle 18"/>
          <p:cNvSpPr/>
          <p:nvPr/>
        </p:nvSpPr>
        <p:spPr>
          <a:xfrm>
            <a:off x="0" y="6675120"/>
            <a:ext cx="12188952" cy="182880"/>
          </a:xfrm>
          <a:prstGeom prst="rect">
            <a:avLst/>
          </a:prstGeom>
          <a:solidFill>
            <a:srgbClr val="257A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4F7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51560"/>
          </a:xfrm>
          <a:prstGeom prst="rect">
            <a:avLst/>
          </a:prstGeom>
          <a:solidFill>
            <a:srgbClr val="1A3C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11480" y="164592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</a:rPr>
              <a:t>角色功能 — 普通用户 · 上架商品</a:t>
            </a:r>
            <a:endParaRPr sz="2600" b="1" i="0">
              <a:solidFill>
                <a:srgbClr val="FFFFFF"/>
              </a:solidFill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411480" y="694944"/>
            <a:ext cx="91440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B0C8E8"/>
                </a:solidFill>
              </a:rPr>
              <a:t>Normal User — Add Goods for Review</a:t>
            </a:r>
            <a:endParaRPr sz="1400" b="0" i="0">
              <a:solidFill>
                <a:srgbClr val="B0C8E8"/>
              </a:solidFill>
            </a:endParaRPr>
          </a:p>
        </p:txBody>
      </p:sp>
      <p:pic>
        <p:nvPicPr>
          <p:cNvPr id="6" name="Picture 5" descr="08_user_normal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20040" y="1170432"/>
            <a:ext cx="8046720" cy="5440680"/>
          </a:xfrm>
          <a:prstGeom prst="rect">
            <a:avLst/>
          </a:prstGeom>
        </p:spPr>
      </p:pic>
      <p:sp>
        <p:nvSpPr>
          <p:cNvPr id="7" name="Rectangle 6"/>
          <p:cNvSpPr/>
          <p:nvPr>
            <p:custDataLst>
              <p:tags r:id="rId2"/>
            </p:custDataLst>
          </p:nvPr>
        </p:nvSpPr>
        <p:spPr>
          <a:xfrm>
            <a:off x="8549640" y="1170432"/>
            <a:ext cx="3383280" cy="5440680"/>
          </a:xfrm>
          <a:prstGeom prst="rect">
            <a:avLst/>
          </a:prstGeom>
          <a:solidFill>
            <a:srgbClr val="FFFFFF"/>
          </a:solidFill>
          <a:ln w="6350">
            <a:solidFill>
              <a:srgbClr val="CBD9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>
            <p:custDataLst>
              <p:tags r:id="rId3"/>
            </p:custDataLst>
          </p:nvPr>
        </p:nvSpPr>
        <p:spPr>
          <a:xfrm>
            <a:off x="8549640" y="1170432"/>
            <a:ext cx="3383280" cy="457200"/>
          </a:xfrm>
          <a:prstGeom prst="rect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686800" y="1207008"/>
            <a:ext cx="3108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</a:rPr>
              <a:t>📦  普通用户独有功能</a:t>
            </a:r>
            <a:endParaRPr sz="1200" b="1" i="0">
              <a:solidFill>
                <a:srgbClr val="FFFFFF"/>
              </a:solidFill>
            </a:endParaRPr>
          </a:p>
        </p:txBody>
      </p:sp>
      <p:sp>
        <p:nvSpPr>
          <p:cNvPr id="10" name="Rectangle 9"/>
          <p:cNvSpPr/>
          <p:nvPr>
            <p:custDataLst>
              <p:tags r:id="rId4"/>
            </p:custDataLst>
          </p:nvPr>
        </p:nvSpPr>
        <p:spPr>
          <a:xfrm>
            <a:off x="8686800" y="1783080"/>
            <a:ext cx="3108960" cy="1234440"/>
          </a:xfrm>
          <a:prstGeom prst="rect">
            <a:avLst/>
          </a:prstGeom>
          <a:solidFill>
            <a:srgbClr val="EAF3FB"/>
          </a:solidFill>
          <a:ln w="3810">
            <a:solidFill>
              <a:srgbClr val="CBD9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>
            <p:custDataLst>
              <p:tags r:id="rId5"/>
            </p:custDataLst>
          </p:nvPr>
        </p:nvSpPr>
        <p:spPr>
          <a:xfrm>
            <a:off x="8778240" y="1856232"/>
            <a:ext cx="2926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27AE60"/>
                </a:solidFill>
              </a:rPr>
              <a:t>上架商品</a:t>
            </a:r>
            <a:endParaRPr sz="1200" b="1" i="0">
              <a:solidFill>
                <a:srgbClr val="27AE60"/>
              </a:solidFill>
            </a:endParaRPr>
          </a:p>
        </p:txBody>
      </p:sp>
      <p:sp>
        <p:nvSpPr>
          <p:cNvPr id="12" name="TextBox 11"/>
          <p:cNvSpPr txBox="1"/>
          <p:nvPr>
            <p:custDataLst>
              <p:tags r:id="rId6"/>
            </p:custDataLst>
          </p:nvPr>
        </p:nvSpPr>
        <p:spPr>
          <a:xfrm>
            <a:off x="8778240" y="2194560"/>
            <a:ext cx="29260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555F73"/>
                </a:solidFill>
              </a:rPr>
              <a:t>填写名称/价格/库存/分类
上传商品图片
提交后进入审核队列</a:t>
            </a:r>
            <a:endParaRPr sz="1000" b="0" i="0">
              <a:solidFill>
                <a:srgbClr val="555F73"/>
              </a:solidFill>
            </a:endParaRPr>
          </a:p>
        </p:txBody>
      </p:sp>
      <p:grpSp>
        <p:nvGrpSpPr>
          <p:cNvPr id="22" name="组合 21"/>
          <p:cNvGrpSpPr/>
          <p:nvPr/>
        </p:nvGrpSpPr>
        <p:grpSpPr>
          <a:xfrm>
            <a:off x="8686800" y="3264535"/>
            <a:ext cx="3108960" cy="1234440"/>
            <a:chOff x="13680" y="7272"/>
            <a:chExt cx="4896" cy="1944"/>
          </a:xfrm>
        </p:grpSpPr>
        <p:sp>
          <p:nvSpPr>
            <p:cNvPr id="16" name="Rectangle 15"/>
            <p:cNvSpPr/>
            <p:nvPr>
              <p:custDataLst>
                <p:tags r:id="rId7"/>
              </p:custDataLst>
            </p:nvPr>
          </p:nvSpPr>
          <p:spPr>
            <a:xfrm>
              <a:off x="13680" y="7272"/>
              <a:ext cx="4896" cy="1944"/>
            </a:xfrm>
            <a:prstGeom prst="rect">
              <a:avLst/>
            </a:prstGeom>
            <a:solidFill>
              <a:srgbClr val="EAF3FB"/>
            </a:solidFill>
            <a:ln w="3810">
              <a:solidFill>
                <a:srgbClr val="CBD9EA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7" name="TextBox 16"/>
            <p:cNvSpPr txBox="1"/>
            <p:nvPr>
              <p:custDataLst>
                <p:tags r:id="rId8"/>
              </p:custDataLst>
            </p:nvPr>
          </p:nvSpPr>
          <p:spPr>
            <a:xfrm>
              <a:off x="13824" y="7387"/>
              <a:ext cx="4608" cy="504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l"/>
              <a:r>
                <a:rPr sz="1200" b="1" i="0">
                  <a:solidFill>
                    <a:srgbClr val="27AE60"/>
                  </a:solidFill>
                </a:rPr>
                <a:t>审核流程</a:t>
              </a:r>
              <a:endParaRPr sz="1200" b="1" i="0">
                <a:solidFill>
                  <a:srgbClr val="27AE60"/>
                </a:solidFill>
              </a:endParaRPr>
            </a:p>
          </p:txBody>
        </p:sp>
        <p:sp>
          <p:nvSpPr>
            <p:cNvPr id="18" name="TextBox 17"/>
            <p:cNvSpPr txBox="1"/>
            <p:nvPr>
              <p:custDataLst>
                <p:tags r:id="rId9"/>
              </p:custDataLst>
            </p:nvPr>
          </p:nvSpPr>
          <p:spPr>
            <a:xfrm>
              <a:off x="13824" y="7920"/>
              <a:ext cx="4608" cy="115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l"/>
              <a:r>
                <a:rPr sz="1000" b="0" i="0">
                  <a:solidFill>
                    <a:srgbClr val="555F73"/>
                  </a:solidFill>
                </a:rPr>
                <a:t>提交 → 等待审核 →
管理员通过后正式上架</a:t>
              </a:r>
              <a:endParaRPr sz="1000" b="0" i="0">
                <a:solidFill>
                  <a:srgbClr val="555F73"/>
                </a:solidFill>
              </a:endParaRPr>
            </a:p>
          </p:txBody>
        </p:sp>
      </p:grpSp>
      <p:sp>
        <p:nvSpPr>
          <p:cNvPr id="19" name="Rectangle 18"/>
          <p:cNvSpPr/>
          <p:nvPr>
            <p:custDataLst>
              <p:tags r:id="rId10"/>
            </p:custDataLst>
          </p:nvPr>
        </p:nvSpPr>
        <p:spPr>
          <a:xfrm>
            <a:off x="8549640" y="5943600"/>
            <a:ext cx="3383280" cy="640080"/>
          </a:xfrm>
          <a:prstGeom prst="rect">
            <a:avLst/>
          </a:prstGeom>
          <a:solidFill>
            <a:srgbClr val="EAF3FB"/>
          </a:solidFill>
          <a:ln w="3810">
            <a:solidFill>
              <a:srgbClr val="CBD9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686800" y="5989320"/>
            <a:ext cx="31089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A3C6E"/>
                </a:solidFill>
              </a:rPr>
              <a:t>📌 普通用户注册后 type=0
左侧菜单显示「商品管理」
管理员不能上架商品（自动拦截）</a:t>
            </a:r>
            <a:endParaRPr sz="1000" b="0" i="0">
              <a:solidFill>
                <a:srgbClr val="1A3C6E"/>
              </a:solidFill>
            </a:endParaRPr>
          </a:p>
        </p:txBody>
      </p:sp>
      <p:sp>
        <p:nvSpPr>
          <p:cNvPr id="21" name="Rectangle 20"/>
          <p:cNvSpPr/>
          <p:nvPr/>
        </p:nvSpPr>
        <p:spPr>
          <a:xfrm>
            <a:off x="0" y="6675120"/>
            <a:ext cx="12188952" cy="182880"/>
          </a:xfrm>
          <a:prstGeom prst="rect">
            <a:avLst/>
          </a:prstGeom>
          <a:solidFill>
            <a:srgbClr val="257A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4F7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51560"/>
          </a:xfrm>
          <a:prstGeom prst="rect">
            <a:avLst/>
          </a:prstGeom>
          <a:solidFill>
            <a:srgbClr val="1A3C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11480" y="164592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</a:rPr>
              <a:t>角色功能 — 管理员 · 商品审核</a:t>
            </a:r>
            <a:endParaRPr sz="2600" b="1" i="0">
              <a:solidFill>
                <a:srgbClr val="FFFFFF"/>
              </a:solidFill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411480" y="694944"/>
            <a:ext cx="91440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B0C8E8"/>
                </a:solidFill>
              </a:rPr>
              <a:t>Admin — Goods Audit &amp; User Management</a:t>
            </a:r>
            <a:endParaRPr sz="1400" b="0" i="0">
              <a:solidFill>
                <a:srgbClr val="B0C8E8"/>
              </a:solidFill>
            </a:endParaRPr>
          </a:p>
        </p:txBody>
      </p:sp>
      <p:pic>
        <p:nvPicPr>
          <p:cNvPr id="6" name="Picture 5" descr="09_admin_audit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20040" y="1170432"/>
            <a:ext cx="8046720" cy="5440680"/>
          </a:xfrm>
          <a:prstGeom prst="rect">
            <a:avLst/>
          </a:prstGeom>
        </p:spPr>
      </p:pic>
      <p:sp>
        <p:nvSpPr>
          <p:cNvPr id="7" name="Rectangle 6"/>
          <p:cNvSpPr/>
          <p:nvPr/>
        </p:nvSpPr>
        <p:spPr>
          <a:xfrm>
            <a:off x="8549640" y="1170432"/>
            <a:ext cx="3383280" cy="5440680"/>
          </a:xfrm>
          <a:prstGeom prst="rect">
            <a:avLst/>
          </a:prstGeom>
          <a:solidFill>
            <a:srgbClr val="FFFFFF"/>
          </a:solidFill>
          <a:ln w="6350">
            <a:solidFill>
              <a:srgbClr val="CBD9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8549640" y="1170432"/>
            <a:ext cx="3383280" cy="457200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686800" y="1207008"/>
            <a:ext cx="3108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</a:rPr>
              <a:t>🔧  管理员独有功能</a:t>
            </a:r>
            <a:endParaRPr sz="1200" b="1" i="0">
              <a:solidFill>
                <a:srgbClr val="FFFFFF"/>
              </a:solidFill>
            </a:endParaRPr>
          </a:p>
        </p:txBody>
      </p:sp>
      <p:sp>
        <p:nvSpPr>
          <p:cNvPr id="10" name="Rectangle 9"/>
          <p:cNvSpPr/>
          <p:nvPr/>
        </p:nvSpPr>
        <p:spPr>
          <a:xfrm>
            <a:off x="8686800" y="1783080"/>
            <a:ext cx="3108960" cy="960120"/>
          </a:xfrm>
          <a:prstGeom prst="rect">
            <a:avLst/>
          </a:prstGeom>
          <a:solidFill>
            <a:srgbClr val="EAF3FB"/>
          </a:solidFill>
          <a:ln w="3810">
            <a:solidFill>
              <a:srgbClr val="CBD9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778240" y="1828800"/>
            <a:ext cx="2926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C0392B"/>
                </a:solidFill>
              </a:rPr>
              <a:t>商品审核</a:t>
            </a:r>
            <a:endParaRPr sz="1200" b="1" i="0">
              <a:solidFill>
                <a:srgbClr val="C0392B"/>
              </a:solidFill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8778240" y="2103120"/>
            <a:ext cx="29260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555F73"/>
                </a:solidFill>
              </a:rPr>
              <a:t>查看所有 status=0 商品
GET pending_list 获取列表
通过 → status=1 上架
拒绝 → status=2 下架</a:t>
            </a:r>
            <a:endParaRPr sz="1000" b="0" i="0">
              <a:solidFill>
                <a:srgbClr val="555F73"/>
              </a:solidFill>
            </a:endParaRPr>
          </a:p>
        </p:txBody>
      </p:sp>
      <p:sp>
        <p:nvSpPr>
          <p:cNvPr id="13" name="Rectangle 12"/>
          <p:cNvSpPr/>
          <p:nvPr/>
        </p:nvSpPr>
        <p:spPr>
          <a:xfrm>
            <a:off x="8686800" y="2880360"/>
            <a:ext cx="3108960" cy="960120"/>
          </a:xfrm>
          <a:prstGeom prst="rect">
            <a:avLst/>
          </a:prstGeom>
          <a:solidFill>
            <a:srgbClr val="FFFFFF"/>
          </a:solidFill>
          <a:ln w="3810">
            <a:solidFill>
              <a:srgbClr val="CBD9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778240" y="2926080"/>
            <a:ext cx="2926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C0392B"/>
                </a:solidFill>
              </a:rPr>
              <a:t>用户管理</a:t>
            </a:r>
            <a:endParaRPr sz="1200" b="1" i="0">
              <a:solidFill>
                <a:srgbClr val="C0392B"/>
              </a:solidFill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8778240" y="3200400"/>
            <a:ext cx="29260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555F73"/>
                </a:solidFill>
              </a:rPr>
              <a:t>查看全部注册用户
账号管理功能</a:t>
            </a:r>
            <a:endParaRPr sz="1000" b="0" i="0">
              <a:solidFill>
                <a:srgbClr val="555F73"/>
              </a:solidFill>
            </a:endParaRPr>
          </a:p>
        </p:txBody>
      </p:sp>
      <p:sp>
        <p:nvSpPr>
          <p:cNvPr id="16" name="Rectangle 15"/>
          <p:cNvSpPr/>
          <p:nvPr/>
        </p:nvSpPr>
        <p:spPr>
          <a:xfrm>
            <a:off x="8686800" y="3977639"/>
            <a:ext cx="3108960" cy="960120"/>
          </a:xfrm>
          <a:prstGeom prst="rect">
            <a:avLst/>
          </a:prstGeom>
          <a:solidFill>
            <a:srgbClr val="EAF3FB"/>
          </a:solidFill>
          <a:ln w="3810">
            <a:solidFill>
              <a:srgbClr val="CBD9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778240" y="4023359"/>
            <a:ext cx="2926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C0392B"/>
                </a:solidFill>
              </a:rPr>
              <a:t>删除商品</a:t>
            </a:r>
            <a:endParaRPr sz="1200" b="1" i="0">
              <a:solidFill>
                <a:srgbClr val="C0392B"/>
              </a:solidFill>
            </a:endParaRPr>
          </a:p>
        </p:txBody>
      </p:sp>
      <p:sp>
        <p:nvSpPr>
          <p:cNvPr id="18" name="TextBox 17"/>
          <p:cNvSpPr txBox="1"/>
          <p:nvPr/>
        </p:nvSpPr>
        <p:spPr>
          <a:xfrm>
            <a:off x="8778240" y="4297679"/>
            <a:ext cx="29260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555F73"/>
                </a:solidFill>
              </a:rPr>
              <a:t>POST /goods/delete
管理员删除违规商品
user_type != 1 拦截</a:t>
            </a:r>
            <a:endParaRPr sz="1000" b="0" i="0">
              <a:solidFill>
                <a:srgbClr val="555F73"/>
              </a:solidFill>
            </a:endParaRPr>
          </a:p>
        </p:txBody>
      </p:sp>
      <p:sp>
        <p:nvSpPr>
          <p:cNvPr id="19" name="Rectangle 18"/>
          <p:cNvSpPr/>
          <p:nvPr/>
        </p:nvSpPr>
        <p:spPr>
          <a:xfrm>
            <a:off x="8686800" y="5074920"/>
            <a:ext cx="3108960" cy="960120"/>
          </a:xfrm>
          <a:prstGeom prst="rect">
            <a:avLst/>
          </a:prstGeom>
          <a:solidFill>
            <a:srgbClr val="FFFFFF"/>
          </a:solidFill>
          <a:ln w="3810">
            <a:solidFill>
              <a:srgbClr val="CBD9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778240" y="5120640"/>
            <a:ext cx="2926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C0392B"/>
                </a:solidFill>
              </a:rPr>
              <a:t>审核统计</a:t>
            </a:r>
            <a:endParaRPr sz="1200" b="1" i="0">
              <a:solidFill>
                <a:srgbClr val="C0392B"/>
              </a:solidFill>
            </a:endParaRPr>
          </a:p>
        </p:txBody>
      </p:sp>
      <p:sp>
        <p:nvSpPr>
          <p:cNvPr id="21" name="TextBox 20"/>
          <p:cNvSpPr txBox="1"/>
          <p:nvPr/>
        </p:nvSpPr>
        <p:spPr>
          <a:xfrm>
            <a:off x="8778240" y="5394960"/>
            <a:ext cx="29260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555F73"/>
                </a:solidFill>
              </a:rPr>
              <a:t>待审核/已通过/已拒绝
实时统计数据面板</a:t>
            </a:r>
            <a:endParaRPr sz="1000" b="0" i="0">
              <a:solidFill>
                <a:srgbClr val="555F73"/>
              </a:solidFill>
            </a:endParaRPr>
          </a:p>
        </p:txBody>
      </p:sp>
      <p:sp>
        <p:nvSpPr>
          <p:cNvPr id="22" name="Rectangle 21"/>
          <p:cNvSpPr/>
          <p:nvPr/>
        </p:nvSpPr>
        <p:spPr>
          <a:xfrm>
            <a:off x="8549640" y="5989320"/>
            <a:ext cx="3383280" cy="594360"/>
          </a:xfrm>
          <a:prstGeom prst="rect">
            <a:avLst/>
          </a:prstGeom>
          <a:solidFill>
            <a:srgbClr val="EAF3FB"/>
          </a:solidFill>
          <a:ln w="3810">
            <a:solidFill>
              <a:srgbClr val="CBD9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686800" y="6016752"/>
            <a:ext cx="31089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A3C6E"/>
                </a:solidFill>
              </a:rPr>
              <a:t>📌 管理员 type=1 用户
左侧菜单显示「管理中心」
所有敏感操作后端二次鉴权</a:t>
            </a:r>
            <a:endParaRPr sz="1000" b="0" i="0">
              <a:solidFill>
                <a:srgbClr val="1A3C6E"/>
              </a:solidFill>
            </a:endParaRPr>
          </a:p>
        </p:txBody>
      </p:sp>
      <p:sp>
        <p:nvSpPr>
          <p:cNvPr id="24" name="Rectangle 23"/>
          <p:cNvSpPr/>
          <p:nvPr/>
        </p:nvSpPr>
        <p:spPr>
          <a:xfrm>
            <a:off x="0" y="6675120"/>
            <a:ext cx="12188952" cy="182880"/>
          </a:xfrm>
          <a:prstGeom prst="rect">
            <a:avLst/>
          </a:prstGeom>
          <a:solidFill>
            <a:srgbClr val="257A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4F7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51560"/>
          </a:xfrm>
          <a:prstGeom prst="rect">
            <a:avLst/>
          </a:prstGeom>
          <a:solidFill>
            <a:srgbClr val="1A3C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11480" y="164592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</a:rPr>
              <a:t>核心流程 — 商品审核</a:t>
            </a:r>
            <a:endParaRPr sz="2600" b="1" i="0">
              <a:solidFill>
                <a:srgbClr val="FFFFFF"/>
              </a:solidFill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411480" y="694944"/>
            <a:ext cx="91440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B0C8E8"/>
                </a:solidFill>
              </a:rPr>
              <a:t>Goods Audit Flow — 普通用户提交 → 管理员审核</a:t>
            </a:r>
            <a:endParaRPr sz="1400" b="0" i="0">
              <a:solidFill>
                <a:srgbClr val="B0C8E8"/>
              </a:solidFill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320040" y="1188720"/>
            <a:ext cx="11521440" cy="1874519"/>
          </a:xfrm>
          <a:prstGeom prst="rect">
            <a:avLst/>
          </a:prstGeom>
          <a:solidFill>
            <a:srgbClr val="EAF3FB"/>
          </a:solidFill>
          <a:ln w="3810">
            <a:solidFill>
              <a:srgbClr val="CBD9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47472" y="1874520"/>
            <a:ext cx="7772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1A3C6E"/>
                </a:solidFill>
              </a:rPr>
              <a:t>普通用户</a:t>
            </a:r>
            <a:endParaRPr sz="1000" b="1" i="0">
              <a:solidFill>
                <a:srgbClr val="1A3C6E"/>
              </a:solidFill>
            </a:endParaRPr>
          </a:p>
        </p:txBody>
      </p:sp>
      <p:sp>
        <p:nvSpPr>
          <p:cNvPr id="8" name="Rectangle 7"/>
          <p:cNvSpPr/>
          <p:nvPr/>
        </p:nvSpPr>
        <p:spPr>
          <a:xfrm>
            <a:off x="320040" y="3200400"/>
            <a:ext cx="11521440" cy="1874519"/>
          </a:xfrm>
          <a:prstGeom prst="rect">
            <a:avLst/>
          </a:prstGeom>
          <a:solidFill>
            <a:srgbClr val="F4F7FB"/>
          </a:solidFill>
          <a:ln w="3810">
            <a:solidFill>
              <a:srgbClr val="CBD9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47472" y="3886200"/>
            <a:ext cx="7772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1A3C6E"/>
                </a:solidFill>
              </a:rPr>
              <a:t>数据库</a:t>
            </a:r>
            <a:endParaRPr sz="1000" b="1" i="0">
              <a:solidFill>
                <a:srgbClr val="1A3C6E"/>
              </a:solidFill>
            </a:endParaRPr>
          </a:p>
        </p:txBody>
      </p:sp>
      <p:sp>
        <p:nvSpPr>
          <p:cNvPr id="10" name="Rectangle 9"/>
          <p:cNvSpPr/>
          <p:nvPr/>
        </p:nvSpPr>
        <p:spPr>
          <a:xfrm>
            <a:off x="320040" y="5212080"/>
            <a:ext cx="11521440" cy="1431290"/>
          </a:xfrm>
          <a:prstGeom prst="rect">
            <a:avLst/>
          </a:prstGeom>
          <a:solidFill>
            <a:srgbClr val="FFF3E5"/>
          </a:solidFill>
          <a:ln w="3810">
            <a:solidFill>
              <a:srgbClr val="CBD9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47472" y="5897880"/>
            <a:ext cx="7772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1A3C6E"/>
                </a:solidFill>
              </a:rPr>
              <a:t>管理员</a:t>
            </a:r>
            <a:endParaRPr sz="1000" b="1" i="0">
              <a:solidFill>
                <a:srgbClr val="1A3C6E"/>
              </a:solidFill>
            </a:endParaRPr>
          </a:p>
        </p:txBody>
      </p:sp>
      <p:sp>
        <p:nvSpPr>
          <p:cNvPr id="12" name="Rectangle 11"/>
          <p:cNvSpPr/>
          <p:nvPr/>
        </p:nvSpPr>
        <p:spPr>
          <a:xfrm>
            <a:off x="1188720" y="1325880"/>
            <a:ext cx="2011680" cy="822960"/>
          </a:xfrm>
          <a:prstGeom prst="rect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188720" y="1362456"/>
            <a:ext cx="20116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</a:rPr>
              <a:t>提交上架</a:t>
            </a:r>
            <a:endParaRPr sz="1200" b="1" i="0">
              <a:solidFill>
                <a:srgbClr val="FFFFFF"/>
              </a:solidFill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1188720" y="1737360"/>
            <a:ext cx="2011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DDEEFF"/>
                </a:solidFill>
              </a:rPr>
              <a:t>POST /user/add_goods</a:t>
            </a:r>
            <a:endParaRPr sz="1000" b="0" i="0">
              <a:solidFill>
                <a:srgbClr val="DDEEFF"/>
              </a:solidFill>
            </a:endParaRPr>
          </a:p>
        </p:txBody>
      </p:sp>
      <p:sp>
        <p:nvSpPr>
          <p:cNvPr id="15" name="Rectangle 14"/>
          <p:cNvSpPr/>
          <p:nvPr/>
        </p:nvSpPr>
        <p:spPr>
          <a:xfrm>
            <a:off x="3931920" y="1325880"/>
            <a:ext cx="2011680" cy="822960"/>
          </a:xfrm>
          <a:prstGeom prst="rect">
            <a:avLst/>
          </a:prstGeom>
          <a:solidFill>
            <a:srgbClr val="1A3C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931920" y="1362456"/>
            <a:ext cx="20116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</a:rPr>
              <a:t>写入DB</a:t>
            </a:r>
            <a:endParaRPr sz="1200" b="1" i="0">
              <a:solidFill>
                <a:srgbClr val="FFFFFF"/>
              </a:solidFill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3931920" y="1737360"/>
            <a:ext cx="2011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DDEEFF"/>
                </a:solidFill>
              </a:rPr>
              <a:t>INSERT status=0</a:t>
            </a:r>
            <a:endParaRPr sz="1000" b="0" i="0">
              <a:solidFill>
                <a:srgbClr val="DDEEFF"/>
              </a:solidFill>
            </a:endParaRPr>
          </a:p>
        </p:txBody>
      </p:sp>
      <p:sp>
        <p:nvSpPr>
          <p:cNvPr id="18" name="Rectangle 17"/>
          <p:cNvSpPr/>
          <p:nvPr/>
        </p:nvSpPr>
        <p:spPr>
          <a:xfrm>
            <a:off x="6675120" y="1325880"/>
            <a:ext cx="2011680" cy="822960"/>
          </a:xfrm>
          <a:prstGeom prst="rect">
            <a:avLst/>
          </a:prstGeom>
          <a:solidFill>
            <a:srgbClr val="555F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675120" y="1362456"/>
            <a:ext cx="20116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</a:rPr>
              <a:t>等待审核</a:t>
            </a:r>
            <a:endParaRPr sz="1200" b="1" i="0">
              <a:solidFill>
                <a:srgbClr val="FFFFFF"/>
              </a:solidFill>
            </a:endParaRPr>
          </a:p>
        </p:txBody>
      </p:sp>
      <p:sp>
        <p:nvSpPr>
          <p:cNvPr id="20" name="TextBox 19"/>
          <p:cNvSpPr txBox="1"/>
          <p:nvPr/>
        </p:nvSpPr>
        <p:spPr>
          <a:xfrm>
            <a:off x="6675120" y="1737360"/>
            <a:ext cx="2011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DDEEFF"/>
                </a:solidFill>
              </a:rPr>
              <a:t>返回提示信息</a:t>
            </a:r>
            <a:endParaRPr sz="1000" b="0" i="0">
              <a:solidFill>
                <a:srgbClr val="DDEEFF"/>
              </a:solidFill>
            </a:endParaRPr>
          </a:p>
        </p:txBody>
      </p:sp>
      <p:sp>
        <p:nvSpPr>
          <p:cNvPr id="21" name="Rectangle 20"/>
          <p:cNvSpPr/>
          <p:nvPr/>
        </p:nvSpPr>
        <p:spPr>
          <a:xfrm>
            <a:off x="3218688" y="1737360"/>
            <a:ext cx="694944" cy="38100"/>
          </a:xfrm>
          <a:prstGeom prst="rect">
            <a:avLst/>
          </a:prstGeom>
          <a:solidFill>
            <a:srgbClr val="555F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3767328" y="1627632"/>
            <a:ext cx="1828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555F73"/>
                </a:solidFill>
              </a:rPr>
              <a:t>▶</a:t>
            </a:r>
            <a:endParaRPr sz="1000" b="0" i="0">
              <a:solidFill>
                <a:srgbClr val="555F73"/>
              </a:solidFill>
            </a:endParaRPr>
          </a:p>
        </p:txBody>
      </p:sp>
      <p:sp>
        <p:nvSpPr>
          <p:cNvPr id="23" name="Rectangle 22"/>
          <p:cNvSpPr/>
          <p:nvPr/>
        </p:nvSpPr>
        <p:spPr>
          <a:xfrm>
            <a:off x="5961888" y="1737360"/>
            <a:ext cx="694944" cy="38100"/>
          </a:xfrm>
          <a:prstGeom prst="rect">
            <a:avLst/>
          </a:prstGeom>
          <a:solidFill>
            <a:srgbClr val="555F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510528" y="1627632"/>
            <a:ext cx="1828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555F73"/>
                </a:solidFill>
              </a:rPr>
              <a:t>▶</a:t>
            </a:r>
            <a:endParaRPr sz="1000" b="0" i="0">
              <a:solidFill>
                <a:srgbClr val="555F73"/>
              </a:solidFill>
            </a:endParaRPr>
          </a:p>
        </p:txBody>
      </p:sp>
      <p:sp>
        <p:nvSpPr>
          <p:cNvPr id="25" name="Rectangle 24"/>
          <p:cNvSpPr/>
          <p:nvPr/>
        </p:nvSpPr>
        <p:spPr>
          <a:xfrm>
            <a:off x="3931920" y="3337560"/>
            <a:ext cx="2011680" cy="822960"/>
          </a:xfrm>
          <a:prstGeom prst="rect">
            <a:avLst/>
          </a:prstGeom>
          <a:solidFill>
            <a:srgbClr val="257A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3931920" y="3374136"/>
            <a:ext cx="20116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</a:rPr>
              <a:t>待审数据</a:t>
            </a:r>
            <a:endParaRPr sz="1200" b="1" i="0">
              <a:solidFill>
                <a:srgbClr val="FFFFFF"/>
              </a:solidFill>
            </a:endParaRPr>
          </a:p>
        </p:txBody>
      </p:sp>
      <p:sp>
        <p:nvSpPr>
          <p:cNvPr id="27" name="TextBox 26"/>
          <p:cNvSpPr txBox="1"/>
          <p:nvPr/>
        </p:nvSpPr>
        <p:spPr>
          <a:xfrm>
            <a:off x="3931920" y="3749040"/>
            <a:ext cx="2011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DDEEFF"/>
                </a:solidFill>
              </a:rPr>
              <a:t>WHERE status=0</a:t>
            </a:r>
            <a:endParaRPr sz="1000" b="0" i="0">
              <a:solidFill>
                <a:srgbClr val="DDEEFF"/>
              </a:solidFill>
            </a:endParaRPr>
          </a:p>
        </p:txBody>
      </p:sp>
      <p:sp>
        <p:nvSpPr>
          <p:cNvPr id="28" name="Rectangle 27"/>
          <p:cNvSpPr/>
          <p:nvPr/>
        </p:nvSpPr>
        <p:spPr>
          <a:xfrm>
            <a:off x="6675120" y="3337560"/>
            <a:ext cx="2011680" cy="822960"/>
          </a:xfrm>
          <a:prstGeom prst="rect">
            <a:avLst/>
          </a:prstGeom>
          <a:solidFill>
            <a:srgbClr val="1A3C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675120" y="3374136"/>
            <a:ext cx="20116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</a:rPr>
              <a:t>返回列表</a:t>
            </a:r>
            <a:endParaRPr sz="1200" b="1" i="0">
              <a:solidFill>
                <a:srgbClr val="FFFFFF"/>
              </a:solidFill>
            </a:endParaRPr>
          </a:p>
        </p:txBody>
      </p:sp>
      <p:sp>
        <p:nvSpPr>
          <p:cNvPr id="30" name="TextBox 29"/>
          <p:cNvSpPr txBox="1"/>
          <p:nvPr/>
        </p:nvSpPr>
        <p:spPr>
          <a:xfrm>
            <a:off x="6675120" y="3749040"/>
            <a:ext cx="2011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DDEEFF"/>
                </a:solidFill>
              </a:rPr>
              <a:t>商品名/价格</a:t>
            </a:r>
            <a:endParaRPr sz="1000" b="0" i="0">
              <a:solidFill>
                <a:srgbClr val="DDEEFF"/>
              </a:solidFill>
            </a:endParaRPr>
          </a:p>
        </p:txBody>
      </p:sp>
      <p:sp>
        <p:nvSpPr>
          <p:cNvPr id="31" name="Rectangle 30"/>
          <p:cNvSpPr/>
          <p:nvPr/>
        </p:nvSpPr>
        <p:spPr>
          <a:xfrm>
            <a:off x="5961888" y="3749039"/>
            <a:ext cx="694944" cy="38100"/>
          </a:xfrm>
          <a:prstGeom prst="rect">
            <a:avLst/>
          </a:prstGeom>
          <a:solidFill>
            <a:srgbClr val="555F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510528" y="3639311"/>
            <a:ext cx="1828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555F73"/>
                </a:solidFill>
              </a:rPr>
              <a:t>▶</a:t>
            </a:r>
            <a:endParaRPr sz="1000" b="0" i="0">
              <a:solidFill>
                <a:srgbClr val="555F73"/>
              </a:solidFill>
            </a:endParaRPr>
          </a:p>
        </p:txBody>
      </p:sp>
      <p:sp>
        <p:nvSpPr>
          <p:cNvPr id="33" name="Rectangle 32"/>
          <p:cNvSpPr/>
          <p:nvPr/>
        </p:nvSpPr>
        <p:spPr>
          <a:xfrm>
            <a:off x="1188720" y="5349240"/>
            <a:ext cx="2011680" cy="822960"/>
          </a:xfrm>
          <a:prstGeom prst="rect">
            <a:avLst/>
          </a:prstGeom>
          <a:solidFill>
            <a:srgbClr val="E67E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1188720" y="5385816"/>
            <a:ext cx="20116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</a:rPr>
              <a:t>查看列表</a:t>
            </a:r>
            <a:endParaRPr sz="1200" b="1" i="0">
              <a:solidFill>
                <a:srgbClr val="FFFFFF"/>
              </a:solidFill>
            </a:endParaRPr>
          </a:p>
        </p:txBody>
      </p:sp>
      <p:sp>
        <p:nvSpPr>
          <p:cNvPr id="35" name="TextBox 34"/>
          <p:cNvSpPr txBox="1"/>
          <p:nvPr/>
        </p:nvSpPr>
        <p:spPr>
          <a:xfrm>
            <a:off x="1188720" y="5760720"/>
            <a:ext cx="2011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DDEEFF"/>
                </a:solidFill>
              </a:rPr>
              <a:t>pending_list</a:t>
            </a:r>
            <a:endParaRPr sz="1000" b="0" i="0">
              <a:solidFill>
                <a:srgbClr val="DDEEFF"/>
              </a:solidFill>
            </a:endParaRPr>
          </a:p>
        </p:txBody>
      </p:sp>
      <p:sp>
        <p:nvSpPr>
          <p:cNvPr id="36" name="Rectangle 35"/>
          <p:cNvSpPr/>
          <p:nvPr/>
        </p:nvSpPr>
        <p:spPr>
          <a:xfrm>
            <a:off x="3931920" y="5349240"/>
            <a:ext cx="2011680" cy="822960"/>
          </a:xfrm>
          <a:prstGeom prst="rect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3931920" y="5385816"/>
            <a:ext cx="20116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</a:rPr>
              <a:t>审核通过</a:t>
            </a:r>
            <a:endParaRPr sz="1200" b="1" i="0">
              <a:solidFill>
                <a:srgbClr val="FFFFFF"/>
              </a:solidFill>
            </a:endParaRPr>
          </a:p>
        </p:txBody>
      </p:sp>
      <p:sp>
        <p:nvSpPr>
          <p:cNvPr id="38" name="TextBox 37"/>
          <p:cNvSpPr txBox="1"/>
          <p:nvPr/>
        </p:nvSpPr>
        <p:spPr>
          <a:xfrm>
            <a:off x="3931920" y="5760720"/>
            <a:ext cx="2011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DDEEFF"/>
                </a:solidFill>
              </a:rPr>
              <a:t>UPDATE status=1</a:t>
            </a:r>
            <a:endParaRPr sz="1000" b="0" i="0">
              <a:solidFill>
                <a:srgbClr val="DDEEFF"/>
              </a:solidFill>
            </a:endParaRPr>
          </a:p>
        </p:txBody>
      </p:sp>
      <p:sp>
        <p:nvSpPr>
          <p:cNvPr id="39" name="Rectangle 38"/>
          <p:cNvSpPr/>
          <p:nvPr/>
        </p:nvSpPr>
        <p:spPr>
          <a:xfrm>
            <a:off x="6675120" y="5349240"/>
            <a:ext cx="2011680" cy="822960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6675120" y="5385816"/>
            <a:ext cx="20116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</a:rPr>
              <a:t>审核拒绝</a:t>
            </a:r>
            <a:endParaRPr sz="1200" b="1" i="0">
              <a:solidFill>
                <a:srgbClr val="FFFFFF"/>
              </a:solidFill>
            </a:endParaRPr>
          </a:p>
        </p:txBody>
      </p:sp>
      <p:sp>
        <p:nvSpPr>
          <p:cNvPr id="41" name="TextBox 40"/>
          <p:cNvSpPr txBox="1"/>
          <p:nvPr/>
        </p:nvSpPr>
        <p:spPr>
          <a:xfrm>
            <a:off x="6675120" y="5760720"/>
            <a:ext cx="2011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DDEEFF"/>
                </a:solidFill>
              </a:rPr>
              <a:t>UPDATE status=2</a:t>
            </a:r>
            <a:endParaRPr sz="1000" b="0" i="0">
              <a:solidFill>
                <a:srgbClr val="DDEEFF"/>
              </a:solidFill>
            </a:endParaRPr>
          </a:p>
        </p:txBody>
      </p:sp>
      <p:sp>
        <p:nvSpPr>
          <p:cNvPr id="42" name="Rectangle 41"/>
          <p:cNvSpPr/>
          <p:nvPr/>
        </p:nvSpPr>
        <p:spPr>
          <a:xfrm>
            <a:off x="9418320" y="5349240"/>
            <a:ext cx="2011680" cy="822960"/>
          </a:xfrm>
          <a:prstGeom prst="rect">
            <a:avLst/>
          </a:prstGeom>
          <a:solidFill>
            <a:srgbClr val="555F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9418320" y="5385816"/>
            <a:ext cx="20116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</a:rPr>
              <a:t>完成</a:t>
            </a:r>
            <a:endParaRPr sz="1200" b="1" i="0">
              <a:solidFill>
                <a:srgbClr val="FFFFFF"/>
              </a:solidFill>
            </a:endParaRPr>
          </a:p>
        </p:txBody>
      </p:sp>
      <p:sp>
        <p:nvSpPr>
          <p:cNvPr id="44" name="TextBox 43"/>
          <p:cNvSpPr txBox="1"/>
          <p:nvPr/>
        </p:nvSpPr>
        <p:spPr>
          <a:xfrm>
            <a:off x="9418320" y="5760720"/>
            <a:ext cx="2011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DDEEFF"/>
                </a:solidFill>
              </a:rPr>
              <a:t>返回msg</a:t>
            </a:r>
            <a:endParaRPr sz="1000" b="0" i="0">
              <a:solidFill>
                <a:srgbClr val="DDEEFF"/>
              </a:solidFill>
            </a:endParaRPr>
          </a:p>
        </p:txBody>
      </p:sp>
      <p:sp>
        <p:nvSpPr>
          <p:cNvPr id="45" name="Rectangle 44"/>
          <p:cNvSpPr/>
          <p:nvPr/>
        </p:nvSpPr>
        <p:spPr>
          <a:xfrm>
            <a:off x="3218688" y="5760720"/>
            <a:ext cx="694944" cy="38100"/>
          </a:xfrm>
          <a:prstGeom prst="rect">
            <a:avLst/>
          </a:prstGeom>
          <a:solidFill>
            <a:srgbClr val="555F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3767328" y="5650992"/>
            <a:ext cx="1828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555F73"/>
                </a:solidFill>
              </a:rPr>
              <a:t>▶</a:t>
            </a:r>
            <a:endParaRPr sz="1000" b="0" i="0">
              <a:solidFill>
                <a:srgbClr val="555F73"/>
              </a:solidFill>
            </a:endParaRPr>
          </a:p>
        </p:txBody>
      </p:sp>
      <p:sp>
        <p:nvSpPr>
          <p:cNvPr id="47" name="Rectangle 46"/>
          <p:cNvSpPr/>
          <p:nvPr/>
        </p:nvSpPr>
        <p:spPr>
          <a:xfrm>
            <a:off x="5961888" y="5760720"/>
            <a:ext cx="694944" cy="38100"/>
          </a:xfrm>
          <a:prstGeom prst="rect">
            <a:avLst/>
          </a:prstGeom>
          <a:solidFill>
            <a:srgbClr val="555F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6510528" y="5650992"/>
            <a:ext cx="1828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555F73"/>
                </a:solidFill>
              </a:rPr>
              <a:t>▶</a:t>
            </a:r>
            <a:endParaRPr sz="1000" b="0" i="0">
              <a:solidFill>
                <a:srgbClr val="555F73"/>
              </a:solidFill>
            </a:endParaRPr>
          </a:p>
        </p:txBody>
      </p:sp>
      <p:sp>
        <p:nvSpPr>
          <p:cNvPr id="49" name="Rectangle 48"/>
          <p:cNvSpPr/>
          <p:nvPr/>
        </p:nvSpPr>
        <p:spPr>
          <a:xfrm>
            <a:off x="8705088" y="5760720"/>
            <a:ext cx="694944" cy="38100"/>
          </a:xfrm>
          <a:prstGeom prst="rect">
            <a:avLst/>
          </a:prstGeom>
          <a:solidFill>
            <a:srgbClr val="555F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9253728" y="5650992"/>
            <a:ext cx="1828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555F73"/>
                </a:solidFill>
              </a:rPr>
              <a:t>▶</a:t>
            </a:r>
            <a:endParaRPr sz="1000" b="0" i="0">
              <a:solidFill>
                <a:srgbClr val="555F73"/>
              </a:solidFill>
            </a:endParaRPr>
          </a:p>
        </p:txBody>
      </p:sp>
      <p:sp>
        <p:nvSpPr>
          <p:cNvPr id="52" name="TextBox 51"/>
          <p:cNvSpPr txBox="1"/>
          <p:nvPr/>
        </p:nvSpPr>
        <p:spPr>
          <a:xfrm>
            <a:off x="4809744" y="1133856"/>
            <a:ext cx="25603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555F73"/>
                </a:solidFill>
              </a:rPr>
              <a:t>▼</a:t>
            </a:r>
            <a:endParaRPr sz="1000" b="0" i="0">
              <a:solidFill>
                <a:srgbClr val="555F73"/>
              </a:solidFill>
            </a:endParaRPr>
          </a:p>
        </p:txBody>
      </p:sp>
      <p:sp>
        <p:nvSpPr>
          <p:cNvPr id="53" name="Rectangle 52"/>
          <p:cNvSpPr/>
          <p:nvPr/>
        </p:nvSpPr>
        <p:spPr>
          <a:xfrm>
            <a:off x="7587615" y="2207895"/>
            <a:ext cx="221615" cy="1072515"/>
          </a:xfrm>
          <a:prstGeom prst="rect">
            <a:avLst/>
          </a:prstGeom>
          <a:solidFill>
            <a:srgbClr val="555F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7552944" y="1133856"/>
            <a:ext cx="25603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555F73"/>
                </a:solidFill>
              </a:rPr>
              <a:t>▼</a:t>
            </a:r>
            <a:endParaRPr sz="1000" b="0" i="0">
              <a:solidFill>
                <a:srgbClr val="555F73"/>
              </a:solidFill>
            </a:endParaRPr>
          </a:p>
        </p:txBody>
      </p:sp>
      <p:sp>
        <p:nvSpPr>
          <p:cNvPr id="55" name="Rectangle 54"/>
          <p:cNvSpPr/>
          <p:nvPr/>
        </p:nvSpPr>
        <p:spPr>
          <a:xfrm>
            <a:off x="0" y="6675120"/>
            <a:ext cx="12188952" cy="182880"/>
          </a:xfrm>
          <a:prstGeom prst="rect">
            <a:avLst/>
          </a:prstGeom>
          <a:solidFill>
            <a:srgbClr val="257A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4F7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51560"/>
          </a:xfrm>
          <a:prstGeom prst="rect">
            <a:avLst/>
          </a:prstGeom>
          <a:solidFill>
            <a:srgbClr val="1A3C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11480" y="164592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</a:rPr>
              <a:t>核心流程 — 用户登录</a:t>
            </a:r>
            <a:endParaRPr sz="2600" b="1" i="0">
              <a:solidFill>
                <a:srgbClr val="FFFFFF"/>
              </a:solidFill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411480" y="694944"/>
            <a:ext cx="91440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B0C8E8"/>
                </a:solidFill>
              </a:rPr>
              <a:t>Login Flow</a:t>
            </a:r>
            <a:endParaRPr sz="1400" b="0" i="0">
              <a:solidFill>
                <a:srgbClr val="B0C8E8"/>
              </a:solidFill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320040" y="1645920"/>
            <a:ext cx="1600200" cy="1371600"/>
          </a:xfrm>
          <a:prstGeom prst="rect">
            <a:avLst/>
          </a:prstGeom>
          <a:solidFill>
            <a:srgbClr val="555F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20040" y="1700784"/>
            <a:ext cx="16002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</a:rPr>
              <a:t>客户端</a:t>
            </a:r>
            <a:endParaRPr sz="1300" b="1" i="0">
              <a:solidFill>
                <a:srgbClr val="FFFFFF"/>
              </a:solidFill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320040" y="2148840"/>
            <a:ext cx="16002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DDEEFF"/>
                </a:solidFill>
              </a:rPr>
              <a:t>用户填写
用户名+密码+验证码</a:t>
            </a:r>
            <a:endParaRPr sz="1100" b="0" i="0">
              <a:solidFill>
                <a:srgbClr val="DDEEFF"/>
              </a:solidFill>
            </a:endParaRPr>
          </a:p>
        </p:txBody>
      </p:sp>
      <p:sp>
        <p:nvSpPr>
          <p:cNvPr id="9" name="Rectangle 8"/>
          <p:cNvSpPr/>
          <p:nvPr/>
        </p:nvSpPr>
        <p:spPr>
          <a:xfrm>
            <a:off x="1965960" y="2313432"/>
            <a:ext cx="310896" cy="38100"/>
          </a:xfrm>
          <a:prstGeom prst="rect">
            <a:avLst/>
          </a:prstGeom>
          <a:solidFill>
            <a:srgbClr val="555F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221992" y="2221992"/>
            <a:ext cx="164592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555F73"/>
                </a:solidFill>
              </a:rPr>
              <a:t>▶</a:t>
            </a:r>
            <a:endParaRPr sz="1000" b="0" i="0">
              <a:solidFill>
                <a:srgbClr val="555F73"/>
              </a:solidFill>
            </a:endParaRPr>
          </a:p>
        </p:txBody>
      </p:sp>
      <p:sp>
        <p:nvSpPr>
          <p:cNvPr id="11" name="Rectangle 10"/>
          <p:cNvSpPr/>
          <p:nvPr/>
        </p:nvSpPr>
        <p:spPr>
          <a:xfrm>
            <a:off x="2286000" y="1645920"/>
            <a:ext cx="1600200" cy="1371600"/>
          </a:xfrm>
          <a:prstGeom prst="rect">
            <a:avLst/>
          </a:prstGeom>
          <a:solidFill>
            <a:srgbClr val="257A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286000" y="1700784"/>
            <a:ext cx="16002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</a:rPr>
              <a:t>Controller</a:t>
            </a:r>
            <a:endParaRPr sz="1300" b="1" i="0">
              <a:solidFill>
                <a:srgbClr val="FFFFFF"/>
              </a:solidFill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2286000" y="2148840"/>
            <a:ext cx="16002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DDEEFF"/>
                </a:solidFill>
              </a:rPr>
              <a:t>POST /user/login
接收参数</a:t>
            </a:r>
            <a:endParaRPr sz="1100" b="0" i="0">
              <a:solidFill>
                <a:srgbClr val="DDEEFF"/>
              </a:solidFill>
            </a:endParaRPr>
          </a:p>
        </p:txBody>
      </p:sp>
      <p:sp>
        <p:nvSpPr>
          <p:cNvPr id="14" name="Rectangle 13"/>
          <p:cNvSpPr/>
          <p:nvPr/>
        </p:nvSpPr>
        <p:spPr>
          <a:xfrm>
            <a:off x="3931920" y="2313432"/>
            <a:ext cx="310896" cy="38100"/>
          </a:xfrm>
          <a:prstGeom prst="rect">
            <a:avLst/>
          </a:prstGeom>
          <a:solidFill>
            <a:srgbClr val="555F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187952" y="2221992"/>
            <a:ext cx="164592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555F73"/>
                </a:solidFill>
              </a:rPr>
              <a:t>▶</a:t>
            </a:r>
            <a:endParaRPr sz="1000" b="0" i="0">
              <a:solidFill>
                <a:srgbClr val="555F73"/>
              </a:solidFill>
            </a:endParaRPr>
          </a:p>
        </p:txBody>
      </p:sp>
      <p:sp>
        <p:nvSpPr>
          <p:cNvPr id="16" name="Rectangle 15"/>
          <p:cNvSpPr/>
          <p:nvPr/>
        </p:nvSpPr>
        <p:spPr>
          <a:xfrm>
            <a:off x="4251959" y="1645920"/>
            <a:ext cx="1600200" cy="1371600"/>
          </a:xfrm>
          <a:prstGeom prst="rect">
            <a:avLst/>
          </a:prstGeom>
          <a:solidFill>
            <a:srgbClr val="1A3C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251959" y="1700784"/>
            <a:ext cx="16002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</a:rPr>
              <a:t>Model</a:t>
            </a:r>
            <a:endParaRPr sz="1300" b="1" i="0">
              <a:solidFill>
                <a:srgbClr val="FFFFFF"/>
              </a:solidFill>
            </a:endParaRPr>
          </a:p>
        </p:txBody>
      </p:sp>
      <p:sp>
        <p:nvSpPr>
          <p:cNvPr id="18" name="TextBox 17"/>
          <p:cNvSpPr txBox="1"/>
          <p:nvPr/>
        </p:nvSpPr>
        <p:spPr>
          <a:xfrm>
            <a:off x="4251959" y="2148840"/>
            <a:ext cx="16002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DDEEFF"/>
                </a:solidFill>
              </a:rPr>
              <a:t>SELECT * FROM user
WHERE username=?</a:t>
            </a:r>
            <a:endParaRPr sz="1100" b="0" i="0">
              <a:solidFill>
                <a:srgbClr val="DDEEFF"/>
              </a:solidFill>
            </a:endParaRPr>
          </a:p>
        </p:txBody>
      </p:sp>
      <p:sp>
        <p:nvSpPr>
          <p:cNvPr id="19" name="Rectangle 18"/>
          <p:cNvSpPr/>
          <p:nvPr/>
        </p:nvSpPr>
        <p:spPr>
          <a:xfrm>
            <a:off x="5897879" y="2313432"/>
            <a:ext cx="310896" cy="38100"/>
          </a:xfrm>
          <a:prstGeom prst="rect">
            <a:avLst/>
          </a:prstGeom>
          <a:solidFill>
            <a:srgbClr val="555F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153911" y="2221992"/>
            <a:ext cx="164592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555F73"/>
                </a:solidFill>
              </a:rPr>
              <a:t>▶</a:t>
            </a:r>
            <a:endParaRPr sz="1000" b="0" i="0">
              <a:solidFill>
                <a:srgbClr val="555F73"/>
              </a:solidFill>
            </a:endParaRPr>
          </a:p>
        </p:txBody>
      </p:sp>
      <p:sp>
        <p:nvSpPr>
          <p:cNvPr id="21" name="Rectangle 20"/>
          <p:cNvSpPr/>
          <p:nvPr/>
        </p:nvSpPr>
        <p:spPr>
          <a:xfrm>
            <a:off x="6217919" y="1645920"/>
            <a:ext cx="1600200" cy="1371600"/>
          </a:xfrm>
          <a:prstGeom prst="rect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217919" y="1700784"/>
            <a:ext cx="16002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</a:rPr>
              <a:t>验证</a:t>
            </a:r>
            <a:endParaRPr sz="1300" b="1" i="0">
              <a:solidFill>
                <a:srgbClr val="FFFFFF"/>
              </a:solidFill>
            </a:endParaRPr>
          </a:p>
        </p:txBody>
      </p:sp>
      <p:sp>
        <p:nvSpPr>
          <p:cNvPr id="23" name="TextBox 22"/>
          <p:cNvSpPr txBox="1"/>
          <p:nvPr/>
        </p:nvSpPr>
        <p:spPr>
          <a:xfrm>
            <a:off x="6217919" y="2148840"/>
            <a:ext cx="16002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DDEEFF"/>
                </a:solidFill>
              </a:rPr>
              <a:t>password_verify()
哈希比对</a:t>
            </a:r>
            <a:endParaRPr sz="1100" b="0" i="0">
              <a:solidFill>
                <a:srgbClr val="DDEEFF"/>
              </a:solidFill>
            </a:endParaRPr>
          </a:p>
        </p:txBody>
      </p:sp>
      <p:sp>
        <p:nvSpPr>
          <p:cNvPr id="24" name="Rectangle 23"/>
          <p:cNvSpPr/>
          <p:nvPr/>
        </p:nvSpPr>
        <p:spPr>
          <a:xfrm>
            <a:off x="7589520" y="1554480"/>
            <a:ext cx="1828800" cy="1554480"/>
          </a:xfrm>
          <a:prstGeom prst="rect">
            <a:avLst/>
          </a:prstGeom>
          <a:solidFill>
            <a:srgbClr val="1A3C6E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7589520" y="1737360"/>
            <a:ext cx="182880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 i="0">
                <a:solidFill>
                  <a:srgbClr val="FFFFFF"/>
                </a:solidFill>
              </a:rPr>
              <a:t>验证
结果?</a:t>
            </a:r>
            <a:endParaRPr sz="1500" b="1" i="0">
              <a:solidFill>
                <a:srgbClr val="FFFFFF"/>
              </a:solidFill>
            </a:endParaRPr>
          </a:p>
        </p:txBody>
      </p:sp>
      <p:sp>
        <p:nvSpPr>
          <p:cNvPr id="26" name="Rectangle 25"/>
          <p:cNvSpPr/>
          <p:nvPr/>
        </p:nvSpPr>
        <p:spPr>
          <a:xfrm>
            <a:off x="9601200" y="1143000"/>
            <a:ext cx="1371600" cy="1005840"/>
          </a:xfrm>
          <a:prstGeom prst="rect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9601200" y="1188720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</a:rPr>
              <a:t>✓ 成功</a:t>
            </a:r>
            <a:endParaRPr sz="1200" b="1" i="0">
              <a:solidFill>
                <a:srgbClr val="FFFFFF"/>
              </a:solidFill>
            </a:endParaRPr>
          </a:p>
        </p:txBody>
      </p:sp>
      <p:sp>
        <p:nvSpPr>
          <p:cNvPr id="28" name="TextBox 27"/>
          <p:cNvSpPr txBox="1"/>
          <p:nvPr/>
        </p:nvSpPr>
        <p:spPr>
          <a:xfrm>
            <a:off x="9601200" y="1554480"/>
            <a:ext cx="1371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CCEECC"/>
                </a:solidFill>
              </a:rPr>
              <a:t>写Session
跳转首页</a:t>
            </a:r>
            <a:endParaRPr sz="1000" b="0" i="0">
              <a:solidFill>
                <a:srgbClr val="CCEECC"/>
              </a:solidFill>
            </a:endParaRPr>
          </a:p>
        </p:txBody>
      </p:sp>
      <p:sp>
        <p:nvSpPr>
          <p:cNvPr id="29" name="Rectangle 28"/>
          <p:cNvSpPr/>
          <p:nvPr/>
        </p:nvSpPr>
        <p:spPr>
          <a:xfrm>
            <a:off x="9436608" y="1645920"/>
            <a:ext cx="146304" cy="38100"/>
          </a:xfrm>
          <a:prstGeom prst="rect">
            <a:avLst/>
          </a:prstGeom>
          <a:solidFill>
            <a:srgbClr val="555F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9436608" y="1536192"/>
            <a:ext cx="1828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555F73"/>
                </a:solidFill>
              </a:rPr>
              <a:t>▶</a:t>
            </a:r>
            <a:endParaRPr sz="1000" b="0" i="0">
              <a:solidFill>
                <a:srgbClr val="555F73"/>
              </a:solidFill>
            </a:endParaRPr>
          </a:p>
        </p:txBody>
      </p:sp>
      <p:sp>
        <p:nvSpPr>
          <p:cNvPr id="31" name="Rectangle 30"/>
          <p:cNvSpPr/>
          <p:nvPr/>
        </p:nvSpPr>
        <p:spPr>
          <a:xfrm>
            <a:off x="7589520" y="3291840"/>
            <a:ext cx="1371600" cy="1005840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7589520" y="3337560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</a:rPr>
              <a:t>✗ 失败</a:t>
            </a:r>
            <a:endParaRPr sz="1200" b="1" i="0">
              <a:solidFill>
                <a:srgbClr val="FFFFFF"/>
              </a:solidFill>
            </a:endParaRPr>
          </a:p>
        </p:txBody>
      </p:sp>
      <p:sp>
        <p:nvSpPr>
          <p:cNvPr id="33" name="TextBox 32"/>
          <p:cNvSpPr txBox="1"/>
          <p:nvPr/>
        </p:nvSpPr>
        <p:spPr>
          <a:xfrm>
            <a:off x="7589520" y="3703320"/>
            <a:ext cx="1371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FFCCCC"/>
                </a:solidFill>
              </a:rPr>
              <a:t>返回错误
提示信息</a:t>
            </a:r>
            <a:endParaRPr sz="1000" b="0" i="0">
              <a:solidFill>
                <a:srgbClr val="FFCCCC"/>
              </a:solidFill>
            </a:endParaRPr>
          </a:p>
        </p:txBody>
      </p:sp>
      <p:sp>
        <p:nvSpPr>
          <p:cNvPr id="34" name="Rectangle 33"/>
          <p:cNvSpPr/>
          <p:nvPr/>
        </p:nvSpPr>
        <p:spPr>
          <a:xfrm>
            <a:off x="8485632" y="3108960"/>
            <a:ext cx="38100" cy="201168"/>
          </a:xfrm>
          <a:prstGeom prst="rect">
            <a:avLst/>
          </a:prstGeom>
          <a:solidFill>
            <a:srgbClr val="555F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8366760" y="3246120"/>
            <a:ext cx="25603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555F73"/>
                </a:solidFill>
              </a:rPr>
              <a:t>▼</a:t>
            </a:r>
            <a:endParaRPr sz="1000" b="0" i="0">
              <a:solidFill>
                <a:srgbClr val="555F73"/>
              </a:solidFill>
            </a:endParaRPr>
          </a:p>
        </p:txBody>
      </p:sp>
      <p:sp>
        <p:nvSpPr>
          <p:cNvPr id="36" name="TextBox 35"/>
          <p:cNvSpPr txBox="1"/>
          <p:nvPr/>
        </p:nvSpPr>
        <p:spPr>
          <a:xfrm>
            <a:off x="8686800" y="2560320"/>
            <a:ext cx="457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C0392B"/>
                </a:solidFill>
              </a:rPr>
              <a:t>失败</a:t>
            </a:r>
            <a:endParaRPr sz="1000" b="1" i="0">
              <a:solidFill>
                <a:srgbClr val="C0392B"/>
              </a:solidFill>
            </a:endParaRPr>
          </a:p>
        </p:txBody>
      </p:sp>
      <p:sp>
        <p:nvSpPr>
          <p:cNvPr id="37" name="Rectangle 36"/>
          <p:cNvSpPr/>
          <p:nvPr/>
        </p:nvSpPr>
        <p:spPr>
          <a:xfrm>
            <a:off x="320040" y="3657600"/>
            <a:ext cx="6858000" cy="2926080"/>
          </a:xfrm>
          <a:prstGeom prst="rect">
            <a:avLst/>
          </a:prstGeom>
          <a:solidFill>
            <a:srgbClr val="FFFFFF"/>
          </a:solidFill>
          <a:ln w="6350">
            <a:solidFill>
              <a:srgbClr val="CBD9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320040" y="3657600"/>
            <a:ext cx="6858000" cy="411480"/>
          </a:xfrm>
          <a:prstGeom prst="rect">
            <a:avLst/>
          </a:prstGeom>
          <a:solidFill>
            <a:srgbClr val="257A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457200" y="3703320"/>
            <a:ext cx="6583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🔑  关键代码</a:t>
            </a:r>
            <a:endParaRPr sz="1300" b="1" i="0">
              <a:solidFill>
                <a:srgbClr val="FFFFFF"/>
              </a:solidFill>
            </a:endParaRPr>
          </a:p>
        </p:txBody>
      </p:sp>
      <p:sp>
        <p:nvSpPr>
          <p:cNvPr id="40" name="TextBox 39"/>
          <p:cNvSpPr txBox="1"/>
          <p:nvPr/>
        </p:nvSpPr>
        <p:spPr>
          <a:xfrm>
            <a:off x="502920" y="4206240"/>
            <a:ext cx="64922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555F73"/>
                </a:solidFill>
              </a:rPr>
              <a:t>// 1. 密码验证</a:t>
            </a:r>
            <a:endParaRPr sz="1000" b="0" i="0">
              <a:solidFill>
                <a:srgbClr val="555F73"/>
              </a:solidFill>
            </a:endParaRPr>
          </a:p>
        </p:txBody>
      </p:sp>
      <p:sp>
        <p:nvSpPr>
          <p:cNvPr id="41" name="TextBox 40"/>
          <p:cNvSpPr txBox="1"/>
          <p:nvPr/>
        </p:nvSpPr>
        <p:spPr>
          <a:xfrm>
            <a:off x="502920" y="4443983"/>
            <a:ext cx="64922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A3C6E"/>
                </a:solidFill>
              </a:rPr>
              <a:t>$user = $db-&gt;find("SELECT * FROM user WHERE username = ?", [$username]);</a:t>
            </a:r>
            <a:endParaRPr sz="1000" b="0" i="0">
              <a:solidFill>
                <a:srgbClr val="1A3C6E"/>
              </a:solidFill>
            </a:endParaRPr>
          </a:p>
        </p:txBody>
      </p:sp>
      <p:sp>
        <p:nvSpPr>
          <p:cNvPr id="42" name="TextBox 41"/>
          <p:cNvSpPr txBox="1"/>
          <p:nvPr/>
        </p:nvSpPr>
        <p:spPr>
          <a:xfrm>
            <a:off x="502920" y="4681727"/>
            <a:ext cx="64922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A3C6E"/>
                </a:solidFill>
              </a:rPr>
              <a:t>if ($user &amp;&amp; password_verify($password, $user['password'])) {</a:t>
            </a:r>
            <a:endParaRPr sz="1000" b="0" i="0">
              <a:solidFill>
                <a:srgbClr val="1A3C6E"/>
              </a:solidFill>
            </a:endParaRPr>
          </a:p>
        </p:txBody>
      </p:sp>
      <p:sp>
        <p:nvSpPr>
          <p:cNvPr id="43" name="TextBox 42"/>
          <p:cNvSpPr txBox="1"/>
          <p:nvPr/>
        </p:nvSpPr>
        <p:spPr>
          <a:xfrm>
            <a:off x="502920" y="4919472"/>
            <a:ext cx="64922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555F73"/>
                </a:solidFill>
              </a:rPr>
              <a:t>    // 2. 验证码校验</a:t>
            </a:r>
            <a:endParaRPr sz="1000" b="0" i="0">
              <a:solidFill>
                <a:srgbClr val="555F73"/>
              </a:solidFill>
            </a:endParaRPr>
          </a:p>
        </p:txBody>
      </p:sp>
      <p:sp>
        <p:nvSpPr>
          <p:cNvPr id="44" name="TextBox 43"/>
          <p:cNvSpPr txBox="1"/>
          <p:nvPr/>
        </p:nvSpPr>
        <p:spPr>
          <a:xfrm>
            <a:off x="502920" y="5157216"/>
            <a:ext cx="64922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A3C6E"/>
                </a:solidFill>
              </a:rPr>
              <a:t>    $builder = new \Gregwar\Captcha\CaptchaBuilder($user['captcha']);</a:t>
            </a:r>
            <a:endParaRPr sz="1000" b="0" i="0">
              <a:solidFill>
                <a:srgbClr val="1A3C6E"/>
              </a:solidFill>
            </a:endParaRPr>
          </a:p>
        </p:txBody>
      </p:sp>
      <p:sp>
        <p:nvSpPr>
          <p:cNvPr id="45" name="TextBox 44"/>
          <p:cNvSpPr txBox="1"/>
          <p:nvPr/>
        </p:nvSpPr>
        <p:spPr>
          <a:xfrm>
            <a:off x="502920" y="5394959"/>
            <a:ext cx="64922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A3C6E"/>
                </a:solidFill>
              </a:rPr>
              <a:t>    if ($builder-&gt;testPhrase($captcha)) {</a:t>
            </a:r>
            <a:endParaRPr sz="1000" b="0" i="0">
              <a:solidFill>
                <a:srgbClr val="1A3C6E"/>
              </a:solidFill>
            </a:endParaRPr>
          </a:p>
        </p:txBody>
      </p:sp>
      <p:sp>
        <p:nvSpPr>
          <p:cNvPr id="46" name="TextBox 45"/>
          <p:cNvSpPr txBox="1"/>
          <p:nvPr/>
        </p:nvSpPr>
        <p:spPr>
          <a:xfrm>
            <a:off x="502920" y="5632704"/>
            <a:ext cx="64922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A3C6E"/>
                </a:solidFill>
              </a:rPr>
              <a:t>        $_SESSION['user_id'] = $user['user_id'];   // 3. 写入Session</a:t>
            </a:r>
            <a:endParaRPr sz="1000" b="0" i="0">
              <a:solidFill>
                <a:srgbClr val="1A3C6E"/>
              </a:solidFill>
            </a:endParaRPr>
          </a:p>
        </p:txBody>
      </p:sp>
      <p:sp>
        <p:nvSpPr>
          <p:cNvPr id="47" name="TextBox 46"/>
          <p:cNvSpPr txBox="1"/>
          <p:nvPr/>
        </p:nvSpPr>
        <p:spPr>
          <a:xfrm>
            <a:off x="502920" y="5870448"/>
            <a:ext cx="64922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A3C6E"/>
                </a:solidFill>
              </a:rPr>
              <a:t>        return json(["code" =&gt; 200, "msg" =&gt; "登录成功"]);</a:t>
            </a:r>
            <a:endParaRPr sz="1000" b="0" i="0">
              <a:solidFill>
                <a:srgbClr val="1A3C6E"/>
              </a:solidFill>
            </a:endParaRPr>
          </a:p>
        </p:txBody>
      </p:sp>
      <p:sp>
        <p:nvSpPr>
          <p:cNvPr id="48" name="TextBox 47"/>
          <p:cNvSpPr txBox="1"/>
          <p:nvPr/>
        </p:nvSpPr>
        <p:spPr>
          <a:xfrm>
            <a:off x="502920" y="6108192"/>
            <a:ext cx="64922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A3C6E"/>
                </a:solidFill>
              </a:rPr>
              <a:t>    }</a:t>
            </a:r>
            <a:endParaRPr sz="1000" b="0" i="0">
              <a:solidFill>
                <a:srgbClr val="1A3C6E"/>
              </a:solidFill>
            </a:endParaRPr>
          </a:p>
        </p:txBody>
      </p:sp>
      <p:sp>
        <p:nvSpPr>
          <p:cNvPr id="49" name="TextBox 48"/>
          <p:cNvSpPr txBox="1"/>
          <p:nvPr/>
        </p:nvSpPr>
        <p:spPr>
          <a:xfrm>
            <a:off x="502920" y="6345936"/>
            <a:ext cx="64922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A3C6E"/>
                </a:solidFill>
              </a:rPr>
              <a:t>}</a:t>
            </a:r>
            <a:endParaRPr sz="1000" b="0" i="0">
              <a:solidFill>
                <a:srgbClr val="1A3C6E"/>
              </a:solidFill>
            </a:endParaRPr>
          </a:p>
        </p:txBody>
      </p:sp>
      <p:sp>
        <p:nvSpPr>
          <p:cNvPr id="50" name="Rectangle 49"/>
          <p:cNvSpPr/>
          <p:nvPr/>
        </p:nvSpPr>
        <p:spPr>
          <a:xfrm>
            <a:off x="9601200" y="3657600"/>
            <a:ext cx="2286000" cy="2926080"/>
          </a:xfrm>
          <a:prstGeom prst="rect">
            <a:avLst/>
          </a:prstGeom>
          <a:solidFill>
            <a:srgbClr val="EAF3FB"/>
          </a:solidFill>
          <a:ln w="6350">
            <a:solidFill>
              <a:srgbClr val="257A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9784080" y="3840480"/>
            <a:ext cx="192024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A3C6E"/>
                </a:solidFill>
              </a:rPr>
              <a:t>💡 安全要点
• password_hash
  + password_verify
  密码哈希存储
• PDO 预处理
  防 SQL 注入
• 验证码防护
  防暴力破解</a:t>
            </a:r>
            <a:endParaRPr sz="1000" b="0" i="0">
              <a:solidFill>
                <a:srgbClr val="1A3C6E"/>
              </a:solidFill>
            </a:endParaRPr>
          </a:p>
        </p:txBody>
      </p:sp>
      <p:sp>
        <p:nvSpPr>
          <p:cNvPr id="52" name="Rectangle 51"/>
          <p:cNvSpPr/>
          <p:nvPr/>
        </p:nvSpPr>
        <p:spPr>
          <a:xfrm>
            <a:off x="0" y="6675120"/>
            <a:ext cx="12188952" cy="182880"/>
          </a:xfrm>
          <a:prstGeom prst="rect">
            <a:avLst/>
          </a:prstGeom>
          <a:solidFill>
            <a:srgbClr val="257A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A3C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8686800" y="0"/>
            <a:ext cx="3502152" cy="6858000"/>
          </a:xfrm>
          <a:prstGeom prst="rect">
            <a:avLst/>
          </a:prstGeom>
          <a:solidFill>
            <a:srgbClr val="257A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57200" y="1097280"/>
            <a:ext cx="7955279" cy="5120640"/>
          </a:xfrm>
          <a:prstGeom prst="rect">
            <a:avLst/>
          </a:prstGeom>
          <a:solidFill>
            <a:srgbClr val="142B52"/>
          </a:solidFill>
          <a:ln w="12700">
            <a:solidFill>
              <a:srgbClr val="356AB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234440"/>
            <a:ext cx="7315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项目总结</a:t>
            </a:r>
            <a:endParaRPr sz="2800" b="1" i="0">
              <a:solidFill>
                <a:srgbClr val="FFFFFF"/>
              </a:solidFill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640080" y="1783080"/>
            <a:ext cx="7315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8AA8CC"/>
                </a:solidFill>
              </a:rPr>
              <a:t>Hot Sale Mall · v1.0 · 2026年6月</a:t>
            </a:r>
            <a:endParaRPr sz="1300" b="0" i="0">
              <a:solidFill>
                <a:srgbClr val="8AA8CC"/>
              </a:solidFill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731520" y="2286000"/>
            <a:ext cx="7315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</a:rPr>
              <a:t>✅  基于 PHP 8.2 + MySQL 9.1 + Apache 2.4 构建</a:t>
            </a:r>
            <a:endParaRPr sz="1300" b="0" i="0">
              <a:solidFill>
                <a:srgbClr val="FFFFFF"/>
              </a:solidFill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731520" y="2880360"/>
            <a:ext cx="7315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</a:rPr>
              <a:t>✅  自研轻量 MVC 框架，严格分层解耦，无重型依赖</a:t>
            </a:r>
            <a:endParaRPr sz="1300" b="0" i="0">
              <a:solidFill>
                <a:srgbClr val="FFFFFF"/>
              </a:solidFill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731520" y="3474720"/>
            <a:ext cx="7315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</a:rPr>
              <a:t>✅  覆盖首页、商品、购物车、订单、权限 5 大模块</a:t>
            </a:r>
            <a:endParaRPr sz="1300" b="0" i="0">
              <a:solidFill>
                <a:srgbClr val="FFFFFF"/>
              </a:solidFill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731520" y="4069080"/>
            <a:ext cx="7315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</a:rPr>
              <a:t>✅  完善安全机制：哈希密码 / PDO 防注入 / XSS 过滤</a:t>
            </a:r>
            <a:endParaRPr sz="1300" b="0" i="0">
              <a:solidFill>
                <a:srgbClr val="FFFFFF"/>
              </a:solidFill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731520" y="4663440"/>
            <a:ext cx="7315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</a:rPr>
              <a:t>✅  双角色权限：普通用户上架 → 管理员审核 + 用户管理</a:t>
            </a:r>
            <a:endParaRPr sz="1300" b="0" i="0">
              <a:solidFill>
                <a:srgbClr val="FFFFFF"/>
              </a:solidFill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731520" y="5257800"/>
            <a:ext cx="7315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</a:rPr>
              <a:t>✅  清晰 RESTful API + 完整注释，易于维护和扩展</a:t>
            </a:r>
            <a:endParaRPr sz="1300" b="0" i="0">
              <a:solidFill>
                <a:srgbClr val="FFFFFF"/>
              </a:solidFill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731520" y="5852160"/>
            <a:ext cx="7315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</a:rPr>
              <a:t>✅  前端响应式设计，兼容桌面端与移动端</a:t>
            </a:r>
            <a:endParaRPr sz="1300" b="0" i="0">
              <a:solidFill>
                <a:srgbClr val="FFFFFF"/>
              </a:solidFill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8869680" y="1371600"/>
            <a:ext cx="30175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1" i="0">
                <a:solidFill>
                  <a:srgbClr val="FFFFFF"/>
                </a:solidFill>
              </a:rPr>
              <a:t>感谢观看</a:t>
            </a:r>
            <a:endParaRPr sz="2400" b="1" i="0">
              <a:solidFill>
                <a:srgbClr val="FFFFFF"/>
              </a:solidFill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8869680" y="1965960"/>
            <a:ext cx="3017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 i="0">
                <a:solidFill>
                  <a:srgbClr val="CCDDFF"/>
                </a:solidFill>
              </a:rPr>
              <a:t>Thank You</a:t>
            </a:r>
            <a:endParaRPr sz="1600" b="0" i="0">
              <a:solidFill>
                <a:srgbClr val="CCDDFF"/>
              </a:solidFill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8869680" y="3200400"/>
            <a:ext cx="301752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</a:rPr>
              <a:t>🛒
热卖商城
Hot Sale Mall</a:t>
            </a:r>
            <a:endParaRPr sz="1800" b="1" i="0">
              <a:solidFill>
                <a:srgbClr val="FFFFFF"/>
              </a:solidFill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11155680" y="6492240"/>
            <a:ext cx="914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555F73"/>
                </a:solidFill>
              </a:rPr>
              <a:t>20 / 20</a:t>
            </a:r>
            <a:endParaRPr sz="1000" b="0" i="0">
              <a:solidFill>
                <a:srgbClr val="555F73"/>
              </a:solidFill>
            </a:endParaRPr>
          </a:p>
        </p:txBody>
      </p:sp>
    </p:spTree>
  </p:cSld>
  <p:clrMapOvr>
    <a:masterClrMapping/>
  </p:clrMapOvr>
</p:sld>
</file>

<file path=ppt/tags/tag1.xml><?xml version="1.0" encoding="utf-8"?>
<p:tagLst xmlns:p="http://schemas.openxmlformats.org/presentationml/2006/main">
  <p:tag name="KSO_WM_DIAGRAM_VIRTUALLY_FRAME" val="{&quot;height&quot;:428.4,&quot;left&quot;:673.2,&quot;top&quot;:92.16,&quot;width&quot;:266.4}"/>
</p:tagLst>
</file>

<file path=ppt/tags/tag2.xml><?xml version="1.0" encoding="utf-8"?>
<p:tagLst xmlns:p="http://schemas.openxmlformats.org/presentationml/2006/main">
  <p:tag name="KSO_WM_DIAGRAM_VIRTUALLY_FRAME" val="{&quot;height&quot;:428.4,&quot;left&quot;:673.2,&quot;top&quot;:92.16,&quot;width&quot;:266.4}"/>
</p:tagLst>
</file>

<file path=ppt/tags/tag3.xml><?xml version="1.0" encoding="utf-8"?>
<p:tagLst xmlns:p="http://schemas.openxmlformats.org/presentationml/2006/main">
  <p:tag name="KSO_WM_DIAGRAM_VIRTUALLY_FRAME" val="{&quot;height&quot;:428.4,&quot;left&quot;:673.2,&quot;top&quot;:92.16,&quot;width&quot;:266.4}"/>
</p:tagLst>
</file>

<file path=ppt/tags/tag4.xml><?xml version="1.0" encoding="utf-8"?>
<p:tagLst xmlns:p="http://schemas.openxmlformats.org/presentationml/2006/main">
  <p:tag name="KSO_WM_DIAGRAM_VIRTUALLY_FRAME" val="{&quot;height&quot;:428.4,&quot;left&quot;:673.2,&quot;top&quot;:92.16,&quot;width&quot;:266.4}"/>
</p:tagLst>
</file>

<file path=ppt/tags/tag5.xml><?xml version="1.0" encoding="utf-8"?>
<p:tagLst xmlns:p="http://schemas.openxmlformats.org/presentationml/2006/main">
  <p:tag name="KSO_WM_DIAGRAM_VIRTUALLY_FRAME" val="{&quot;height&quot;:428.4,&quot;left&quot;:673.2,&quot;top&quot;:92.16,&quot;width&quot;:266.4}"/>
</p:tagLst>
</file>

<file path=ppt/tags/tag6.xml><?xml version="1.0" encoding="utf-8"?>
<p:tagLst xmlns:p="http://schemas.openxmlformats.org/presentationml/2006/main">
  <p:tag name="KSO_WM_DIAGRAM_VIRTUALLY_FRAME" val="{&quot;height&quot;:428.4,&quot;left&quot;:673.2,&quot;top&quot;:92.16,&quot;width&quot;:266.4}"/>
</p:tagLst>
</file>

<file path=ppt/tags/tag7.xml><?xml version="1.0" encoding="utf-8"?>
<p:tagLst xmlns:p="http://schemas.openxmlformats.org/presentationml/2006/main">
  <p:tag name="KSO_WM_DIAGRAM_VIRTUALLY_FRAME" val="{&quot;height&quot;:428.4,&quot;left&quot;:673.2,&quot;top&quot;:92.16,&quot;width&quot;:266.4}"/>
</p:tagLst>
</file>

<file path=ppt/tags/tag8.xml><?xml version="1.0" encoding="utf-8"?>
<p:tagLst xmlns:p="http://schemas.openxmlformats.org/presentationml/2006/main">
  <p:tag name="KSO_WM_DIAGRAM_VIRTUALLY_FRAME" val="{&quot;height&quot;:428.4,&quot;left&quot;:673.2,&quot;top&quot;:92.16,&quot;width&quot;:266.4}"/>
</p:tagLst>
</file>

<file path=ppt/tags/tag9.xml><?xml version="1.0" encoding="utf-8"?>
<p:tagLst xmlns:p="http://schemas.openxmlformats.org/presentationml/2006/main">
  <p:tag name="KSO_WM_DIAGRAM_VIRTUALLY_FRAME" val="{&quot;height&quot;:428.4,&quot;left&quot;:673.2,&quot;top&quot;:92.16,&quot;width&quot;:266.4}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5454</Words>
  <Application>WPS 演示</Application>
  <PresentationFormat>On-screen Show (4:3)</PresentationFormat>
  <Paragraphs>703</Paragraphs>
  <Slides>17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7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17</vt:i4>
      </vt:variant>
    </vt:vector>
  </HeadingPairs>
  <TitlesOfParts>
    <vt:vector size="25" baseType="lpstr">
      <vt:lpstr>Arial</vt:lpstr>
      <vt:lpstr>宋体</vt:lpstr>
      <vt:lpstr>Wingdings</vt:lpstr>
      <vt:lpstr>Arial</vt:lpstr>
      <vt:lpstr>Calibri</vt:lpstr>
      <vt:lpstr>微软雅黑</vt:lpstr>
      <vt:lpstr>Arial Unicode MS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dc:description>generated using python-pptx</dc:description>
  <cp:lastModifiedBy>微信用户</cp:lastModifiedBy>
  <cp:revision>15</cp:revision>
  <dcterms:created xsi:type="dcterms:W3CDTF">2013-01-27T09:14:00Z</dcterms:created>
  <dcterms:modified xsi:type="dcterms:W3CDTF">2026-07-02T05:33:01Z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437C77D72A2541B891791D54FD28C503_12</vt:lpwstr>
  </property>
  <property fmtid="{D5CDD505-2E9C-101B-9397-08002B2CF9AE}" pid="3" name="KSOProductBuildVer">
    <vt:lpwstr>2052-12.1.0.26895</vt:lpwstr>
  </property>
</Properties>
</file>